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4234751316434d" /><Relationship Type="http://schemas.openxmlformats.org/officeDocument/2006/relationships/extended-properties" Target="/docProps/app.xml" Id="Rf191516089d34805" /><Relationship Type="http://schemas.openxmlformats.org/officeDocument/2006/relationships/officeDocument" Target="/ppt/presentation.xml" Id="R765faa490ce441e2" /></Relationships>
</file>

<file path=ppt/presentation.xml><?xml version="1.0" encoding="utf-8"?>
<p:presentation xmlns:p="http://schemas.openxmlformats.org/presentationml/2006/main">
  <p:sldMasterIdLst>
    <p:sldMasterId xmlns:r="http://schemas.openxmlformats.org/officeDocument/2006/relationships" id="2147483648" r:id="R0b90728f835b4e51"/>
  </p:sldMasterIdLst>
  <p:notesMasterIdLst>
    <p:notesMasterId xmlns:r="http://schemas.openxmlformats.org/officeDocument/2006/relationships" r:id="R92c7b30131df4a5a"/>
  </p:notesMasterIdLst>
  <p:sldIdLst>
    <p:sldId xmlns:r="http://schemas.openxmlformats.org/officeDocument/2006/relationships" id="256" r:id="Rf6e3a4c065f14705"/>
  </p:sldIdLst>
  <p:sldSz cx="49377600" cy="384048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7482c6249a4022" /><Relationship Type="http://schemas.openxmlformats.org/officeDocument/2006/relationships/slideMaster" Target="/ppt/slideMasters/slideMaster1.xml" Id="R0b90728f835b4e51" /><Relationship Type="http://schemas.openxmlformats.org/officeDocument/2006/relationships/notesMaster" Target="/ppt/notesMasters/notesMaster1.xml" Id="R92c7b30131df4a5a" /><Relationship Type="http://schemas.openxmlformats.org/officeDocument/2006/relationships/presProps" Target="/ppt/presProps.xml" Id="Ra716932cac1345f2" /><Relationship Type="http://schemas.openxmlformats.org/officeDocument/2006/relationships/tableStyles" Target="/ppt/tableStyles.xml" Id="Reed345981bf24ad6" /><Relationship Type="http://schemas.openxmlformats.org/officeDocument/2006/relationships/slide" Target="/ppt/slides/slide1.xml" Id="Rf6e3a4c065f147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a7819ffe2048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06f07177554c62" /><Relationship Type="http://schemas.openxmlformats.org/officeDocument/2006/relationships/notesMaster" Target="/ppt/notesMasters/notesMaster1.xml" Id="R3c22de793cd24d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FIVE-MINUTE POSTER TALK</a:t>
            </a:r>
          </a:p>
          <a:p xmlns:a="http://schemas.openxmlformats.org/drawingml/2006/main">
            <a:r>
              <a:t/>
            </a:r>
          </a:p>
          <a:p xmlns:a="http://schemas.openxmlformats.org/drawingml/2006/main">
            <a:r>
              <a:t>0:00–0:40 — The problem</a:t>
            </a:r>
          </a:p>
          <a:p xmlns:a="http://schemas.openxmlformats.org/drawingml/2006/main">
            <a:r>
              <a:t>The 2022 Census of Agriculture reports 52.8 billion dollars in milk sales, but dairy farm numbers declined 39 percent. Specialized dairy production expenses reached 43.9 billion dollars and feed represented 46 percent. Circular technologies can recover nutrients, water, energy, and product value, but producers need a way to compare them inside the same farm system.</a:t>
            </a:r>
          </a:p>
          <a:p xmlns:a="http://schemas.openxmlformats.org/drawingml/2006/main">
            <a:r>
              <a:t/>
            </a:r>
          </a:p>
          <a:p xmlns:a="http://schemas.openxmlformats.org/drawingml/2006/main">
            <a:r>
              <a:t>0:40–1:20 — Objective and model</a:t>
            </a:r>
          </a:p>
          <a:p xmlns:a="http://schemas.openxmlformats.org/drawingml/2006/main">
            <a:r>
              <a:t>Our objective was to quantify how four implemented loops change annual operating profit, net greenhouse gas emissions, freshwater withdrawal, and circularity. ViCBio DM links 13 components and preserves a fixed daily causal order. The hypothesis was that more loops would improve profit and circularity while lowering emissions and water use.</a:t>
            </a:r>
          </a:p>
          <a:p xmlns:a="http://schemas.openxmlformats.org/drawingml/2006/main">
            <a:r>
              <a:t/>
            </a:r>
          </a:p>
          <a:p xmlns:a="http://schemas.openxmlformats.org/drawingml/2006/main">
            <a:r>
              <a:t>1:20–2:10 — Experiment</a:t>
            </a:r>
          </a:p>
          <a:p xmlns:a="http://schemas.openxmlformats.org/drawingml/2006/main">
            <a:r>
              <a:t>We ran a one-year, 100-cow, high-intensity virtual farm with 80 hectares of cropland and 40 hectares of pasture. The experiment covered all sixteen combinations of nutrient, water, energy, and processing/product loops at seed 42. Five representative configurations were then repeated across seeds 1 through 12. The separate amino-acid water-saving policy and automatic manager responses were disabled so they would not mask the loop effects.</a:t>
            </a:r>
          </a:p>
          <a:p xmlns:a="http://schemas.openxmlformats.org/drawingml/2006/main">
            <a:r>
              <a:t/>
            </a:r>
          </a:p>
          <a:p xmlns:a="http://schemas.openxmlformats.org/drawingml/2006/main">
            <a:r>
              <a:t>2:10–3:20 — Factorial results</a:t>
            </a:r>
          </a:p>
          <a:p xmlns:a="http://schemas.openxmlformats.org/drawingml/2006/main">
            <a:r>
              <a:t>The heatmaps show that loop effects are not equal. L4 produces the economic separation: it raises seed-42 operating profit by 78,868 dollars relative to no loops under the model's assumed product mix and prices. L3 produces the environmental separation: it lowers net emissions 10.3 percent and adds about 4,380 dollars. L2 reduces freshwater withdrawal by 159,417 liters, or 0.41 percent. L1 creates 70.9 tonnes of feed-offset credit but no top-line benefit because farm-grown feed was not binding.</a:t>
            </a:r>
          </a:p>
          <a:p xmlns:a="http://schemas.openxmlformats.org/drawingml/2006/main">
            <a:r>
              <a:t/>
            </a:r>
          </a:p>
          <a:p xmlns:a="http://schemas.openxmlformats.org/drawingml/2006/main">
            <a:r>
              <a:t>3:20–4:10 — Combined and robustness results</a:t>
            </a:r>
          </a:p>
          <a:p xmlns:a="http://schemas.openxmlformats.org/drawingml/2006/main">
            <a:r>
              <a:t>With all loops active, operating profit is 123,755 dollars versus 40,348 dollars, net emissions are 121.2 versus 135.1 tonnes of CO2 equivalent, and circularity rises from 0.21 to 0.71. Milk output is unchanged at 719,779 liters, so the differences arise from routing and modeled values rather than more milk. Across twelve seeds, the ranking remains stable: all loops average 120.7 plus or minus 2.9 thousand dollars, compared with 38.4 plus or minus 1.9 thousand with no loop toggles.</a:t>
            </a:r>
          </a:p>
          <a:p xmlns:a="http://schemas.openxmlformats.org/drawingml/2006/main">
            <a:r>
              <a:t/>
            </a:r>
          </a:p>
          <a:p xmlns:a="http://schemas.openxmlformats.org/drawingml/2006/main">
            <a:r>
              <a:t>4:10–5:00 — Conclusion and boundary</a:t>
            </a:r>
          </a:p>
          <a:p xmlns:a="http://schemas.openxmlformats.org/drawingml/2006/main">
            <a:r>
              <a:t>The result is not a validated investment return. No capital-cost basis was supplied, so ROI and payback are intentionally absent. The correct use of this version is screening: identify which assumptions and constraints drive results, then calibrate CapEx, operating cost, observed prices, and farm mass balances before making investment claims.</a:t>
            </a:r>
          </a:p>
          <a:p xmlns:a="http://schemas.openxmlformats.org/drawingml/2006/main">
            <a:r>
              <a:t/>
            </a:r>
          </a:p>
          <a:p xmlns:a="http://schemas.openxmlformats.org/drawingml/2006/main">
            <a:r>
              <a:t>Q&amp;A DEFENSE</a:t>
            </a:r>
          </a:p>
          <a:p xmlns:a="http://schemas.openxmlformats.org/drawingml/2006/main">
            <a:r>
              <a:t>Why is L4 so large? It combines modeled processing revenue with byproduct routing and therefore depends strongly on calibrated product yields and prices.</a:t>
            </a:r>
          </a:p>
          <a:p xmlns:a="http://schemas.openxmlformats.org/drawingml/2006/main">
            <a:r>
              <a:t>Why is baseline circularity already 0.21? Physical wastewater treatment and nutrient return are implemented even when L1 and L2 toggles are off; those toggles add next-day credits rather than disabling all recovery.</a:t>
            </a:r>
          </a:p>
          <a:p xmlns:a="http://schemas.openxmlformats.org/drawingml/2006/main">
            <a:r>
              <a:t>Where is ROI? The manager reports ROI only when a positive capital-cost basis is supplied. This experiment supplies none, so an ROI number would be fabricated.</a:t>
            </a:r>
          </a:p>
          <a:p xmlns:a="http://schemas.openxmlformats.org/drawingml/2006/main">
            <a:r>
              <a:t>Were five farm types compared? No. The current repository exposes three feed-production-system settings, not the five proposed abstract categories. Implementing and validating those five scenarios is future work.</a:t>
            </a:r>
          </a:p>
          <a:p xmlns:a="http://schemas.openxmlformats.org/drawingml/2006/main">
            <a:r>
              <a:t>What do the tests prove? The 229 passing tests verify software contracts and deterministic behavior. They do not validate biological calibration, prices, or investment performance.</a:t>
            </a:r>
          </a:p>
          <a:p xmlns:a="http://schemas.openxmlformats.org/drawingml/2006/main">
            <a:r>
              <a:t/>
            </a:r>
          </a:p>
          <a:p xmlns:a="http://schemas.openxmlformats.org/drawingml/2006/main">
            <a:r>
              <a:t>SOURCES</a:t>
            </a:r>
          </a:p>
          <a:p xmlns:a="http://schemas.openxmlformats.org/drawingml/2006/main">
            <a:r>
              <a:t>USDA NASS. 2022 Census of Agriculture: Dairy Cattle and Milk Production. 2024. https://data.nass.usda.gov/Publications/Highlights/2024/Census22_HL_Dairy.pdf</a:t>
            </a:r>
          </a:p>
          <a:p xmlns:a="http://schemas.openxmlformats.org/drawingml/2006/main">
            <a:r>
              <a:t>Wood, P.D.P. Algebraic model of the lactation curve in cattle. Nature 216, 164–165. https://doi.org/10.1038/216164a0</a:t>
            </a:r>
          </a:p>
          <a:p xmlns:a="http://schemas.openxmlformats.org/drawingml/2006/main">
            <a:r>
              <a:t>Muell, J.D. et al. Farm-scale water-energy-food-waste nexus analysis for a closed-loop dairy system. Frontiers in Environmental Science 10:880839. https://doi.org/10.3389/fenvs.2022.880839</a:t>
            </a:r>
          </a:p>
          <a:p xmlns:a="http://schemas.openxmlformats.org/drawingml/2006/main">
            <a:r>
              <a:t>ViCBio DM repository commit 7c41c15daaf1. Computational outputs generated 2026-09-05.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c826a1794244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944c4ef1f24b5e" /><Relationship Type="http://schemas.openxmlformats.org/officeDocument/2006/relationships/slideLayout" Target="/ppt/slideLayouts/slideLayout1.xml" Id="R379d5b7a1c3b43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9d5b7a1c3b43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e8226be9544304" /><Relationship Type="http://schemas.openxmlformats.org/officeDocument/2006/relationships/image" Target="/ppt/media/image.png" Id="Rcd5fd9d00a74483d" /><Relationship Type="http://schemas.openxmlformats.org/officeDocument/2006/relationships/image" Target="/ppt/media/image2.png" Id="R708b3265c3474b21" /><Relationship Type="http://schemas.openxmlformats.org/officeDocument/2006/relationships/notesSlide" Target="/ppt/notesSlides/notesSlide1.xml" Id="Rcbe8999c38e54b4d" /></Relationships>
</file>

<file path=ppt/slides/slide1.xml><?xml version="1.0" encoding="utf-8"?>
<p:sld xmlns:p="http://schemas.openxmlformats.org/presentationml/2006/main">
  <p:cSld>
    <p:bg>
      <p:bgPr>
        <a:solidFill xmlns:a="http://schemas.openxmlformats.org/drawingml/2006/main">
          <a:srgbClr val="F5F1EB"/>
        </a:solidFill>
      </p:bgPr>
    </p:bg>
    <p:spTree>
      <p:nvGrpSpPr>
        <p:cNvPr id="1" name=""/>
        <p:cNvGrpSpPr/>
        <p:nvPr/>
      </p:nvGrpSpPr>
      <p:grpSpPr>
        <a:xfrm xmlns:a="http://schemas.openxmlformats.org/drawingml/2006/main"/>
      </p:grpSpPr>
      <p:sp>
        <p:nvSpPr>
          <p:cNvPr id="101" name="">
            <a:extLst xmlns:a="http://schemas.openxmlformats.org/drawingml/2006/main">
              <a:ext uri="{FF2B5EF4-FFF2-40B4-BE49-F238E27FC236}">
                <a16:creationId xmlns:a16="http://schemas.microsoft.com/office/drawing/2014/main" id="{5964AD80-134C-4C88-9056-9BE4E2E586D0}"/>
              </a:ext>
            </a:extLst>
          </p:cNvPr>
          <p:cNvSpPr>
            <a:spLocks xmlns:a="http://schemas.openxmlformats.org/drawingml/2006/main" noGrp="1"/>
          </p:cNvSpPr>
          <p:nvPr/>
        </p:nvSpPr>
        <p:spPr>
          <a:xfrm xmlns:a="http://schemas.openxmlformats.org/drawingml/2006/main">
            <a:off x="0" y="0"/>
            <a:ext cx="49377600" cy="4457700"/>
          </a:xfrm>
          <a:prstGeom xmlns:a="http://schemas.openxmlformats.org/drawingml/2006/main" prst="rect">
            <a:avLst/>
          </a:prstGeom>
          <a:solidFill xmlns:a="http://schemas.openxmlformats.org/drawingml/2006/main">
            <a:srgbClr val="500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19FDB2-535D-4F46-8C4C-11678449D2B8}"/>
              </a:ext>
            </a:extLst>
          </p:cNvPr>
          <p:cNvSpPr>
            <a:spLocks xmlns:a="http://schemas.openxmlformats.org/drawingml/2006/main" noGrp="1"/>
          </p:cNvSpPr>
          <p:nvPr/>
        </p:nvSpPr>
        <p:spPr>
          <a:xfrm xmlns:a="http://schemas.openxmlformats.org/drawingml/2006/main">
            <a:off x="0" y="4457700"/>
            <a:ext cx="49377600" cy="152400"/>
          </a:xfrm>
          <a:prstGeom xmlns:a="http://schemas.openxmlformats.org/drawingml/2006/main" prst="rect">
            <a:avLst/>
          </a:prstGeom>
          <a:solidFill xmlns:a="http://schemas.openxmlformats.org/drawingml/2006/main">
            <a:srgbClr val="B8872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22BA32-AAFD-4DA3-86AF-AC5F6BED284B}"/>
              </a:ext>
            </a:extLst>
          </p:cNvPr>
          <p:cNvSpPr>
            <a:spLocks xmlns:a="http://schemas.openxmlformats.org/drawingml/2006/main" noGrp="1"/>
          </p:cNvSpPr>
          <p:nvPr/>
        </p:nvSpPr>
        <p:spPr>
          <a:xfrm xmlns:a="http://schemas.openxmlformats.org/drawingml/2006/main">
            <a:off x="1200150" y="266700"/>
            <a:ext cx="2952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1800" b="1" i="0">
                <a:solidFill>
                  <a:srgbClr val="E9DCCB"/>
                </a:solidFill>
                <a:latin typeface="Arial"/>
                <a:ea typeface="Arial"/>
                <a:cs typeface="Arial"/>
              </a:defRPr>
            </a:pPr>
            <a:r>
              <a:rPr sz="1800" b="1" i="0">
                <a:solidFill>
                  <a:srgbClr val="E9DCCB"/>
                </a:solidFill>
                <a:latin typeface="Arial"/>
                <a:ea typeface="Arial"/>
                <a:cs typeface="Arial"/>
              </a:rPr>
              <a:t>POSTDOCTORAL RESEARCH SYMPOSIUM  |  COMPUTATIONAL STUDY</a:t>
            </a:r>
          </a:p>
        </p:txBody>
      </p:sp>
      <p:sp>
        <p:nvSpPr>
          <p:cNvPr id="4" name="">
            <a:extLst xmlns:a="http://schemas.openxmlformats.org/drawingml/2006/main">
              <a:ext uri="{FF2B5EF4-FFF2-40B4-BE49-F238E27FC236}">
                <a16:creationId xmlns:a16="http://schemas.microsoft.com/office/drawing/2014/main" id="{51048060-AB65-4191-A2D0-97BA7F02C7BD}"/>
              </a:ext>
            </a:extLst>
          </p:cNvPr>
          <p:cNvSpPr>
            <a:spLocks xmlns:a="http://schemas.openxmlformats.org/drawingml/2006/main" noGrp="1"/>
          </p:cNvSpPr>
          <p:nvPr/>
        </p:nvSpPr>
        <p:spPr>
          <a:xfrm xmlns:a="http://schemas.openxmlformats.org/drawingml/2006/main">
            <a:off x="45148500" y="2286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04000"/>
              </a:lnSpc>
              <a:buNone/>
              <a:defRPr sz="1800" b="1" i="0">
                <a:solidFill>
                  <a:srgbClr val="FFFFFF"/>
                </a:solidFill>
                <a:latin typeface="Arial"/>
                <a:ea typeface="Arial"/>
                <a:cs typeface="Arial"/>
              </a:defRPr>
            </a:pPr>
            <a:r>
              <a:rPr sz="1800" b="1" i="0">
                <a:solidFill>
                  <a:srgbClr val="FFFFFF"/>
                </a:solidFill>
                <a:latin typeface="Arial"/>
                <a:ea typeface="Arial"/>
                <a:cs typeface="Arial"/>
              </a:rPr>
              <a:t>54 × 42 IN</a:t>
            </a:r>
          </a:p>
        </p:txBody>
      </p:sp>
      <p:sp>
        <p:nvSpPr>
          <p:cNvPr id="5" name="poster-title">
            <a:extLst xmlns:a="http://schemas.openxmlformats.org/drawingml/2006/main">
              <a:ext uri="{FF2B5EF4-FFF2-40B4-BE49-F238E27FC236}">
                <a16:creationId xmlns:a16="http://schemas.microsoft.com/office/drawing/2014/main" id="{E07CFCA4-DFE5-488B-BF6B-3C4090F66493}"/>
              </a:ext>
            </a:extLst>
          </p:cNvPr>
          <p:cNvSpPr>
            <a:spLocks xmlns:a="http://schemas.openxmlformats.org/drawingml/2006/main" noGrp="1"/>
          </p:cNvSpPr>
          <p:nvPr/>
        </p:nvSpPr>
        <p:spPr>
          <a:xfrm xmlns:a="http://schemas.openxmlformats.org/drawingml/2006/main">
            <a:off x="1162050" y="723900"/>
            <a:ext cx="468630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93000"/>
              </a:lnSpc>
              <a:buNone/>
              <a:defRPr sz="7650" b="1" i="0">
                <a:solidFill>
                  <a:srgbClr val="FFFFFF"/>
                </a:solidFill>
                <a:latin typeface="Arial"/>
                <a:ea typeface="Arial"/>
                <a:cs typeface="Arial"/>
              </a:defRPr>
            </a:pPr>
            <a:r>
              <a:rPr sz="7650" b="1" i="0">
                <a:solidFill>
                  <a:srgbClr val="FFFFFF"/>
                </a:solidFill>
                <a:latin typeface="Arial"/>
                <a:ea typeface="Arial"/>
                <a:cs typeface="Arial"/>
              </a:rPr>
              <a:t>How Four Circular Dairy Loops Change Operating Profit,</a:t>
            </a:r>
          </a:p>
          <a:p xmlns:a="http://schemas.openxmlformats.org/drawingml/2006/main">
            <a:pPr algn="l">
              <a:lnSpc>
                <a:spcPct val="93000"/>
              </a:lnSpc>
              <a:buNone/>
              <a:defRPr sz="7650" b="1" i="0">
                <a:solidFill>
                  <a:srgbClr val="FFFFFF"/>
                </a:solidFill>
                <a:latin typeface="Arial"/>
                <a:ea typeface="Arial"/>
                <a:cs typeface="Arial"/>
              </a:defRPr>
            </a:pPr>
            <a:r>
              <a:rPr sz="7650" b="1" i="0">
                <a:solidFill>
                  <a:srgbClr val="FFFFFF"/>
                </a:solidFill>
                <a:latin typeface="Arial"/>
                <a:ea typeface="Arial"/>
                <a:cs typeface="Arial"/>
              </a:rPr>
              <a:t>Greenhouse Gas Emissions, and Water Use</a:t>
            </a:r>
          </a:p>
        </p:txBody>
      </p:sp>
      <p:sp>
        <p:nvSpPr>
          <p:cNvPr id="6" name="">
            <a:extLst xmlns:a="http://schemas.openxmlformats.org/drawingml/2006/main">
              <a:ext uri="{FF2B5EF4-FFF2-40B4-BE49-F238E27FC236}">
                <a16:creationId xmlns:a16="http://schemas.microsoft.com/office/drawing/2014/main" id="{A48C091A-0B9A-4C4F-A23B-A3215DA189A5}"/>
              </a:ext>
            </a:extLst>
          </p:cNvPr>
          <p:cNvSpPr>
            <a:spLocks xmlns:a="http://schemas.openxmlformats.org/drawingml/2006/main" noGrp="1"/>
          </p:cNvSpPr>
          <p:nvPr/>
        </p:nvSpPr>
        <p:spPr>
          <a:xfrm xmlns:a="http://schemas.openxmlformats.org/drawingml/2006/main">
            <a:off x="1219200" y="3067050"/>
            <a:ext cx="2857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2550" b="1" i="0">
                <a:solidFill>
                  <a:srgbClr val="F3E7D7"/>
                </a:solidFill>
                <a:latin typeface="Arial"/>
                <a:ea typeface="Arial"/>
                <a:cs typeface="Arial"/>
              </a:defRPr>
            </a:pPr>
            <a:r>
              <a:rPr sz="2550" b="1" i="0">
                <a:solidFill>
                  <a:srgbClr val="F3E7D7"/>
                </a:solidFill>
                <a:latin typeface="Arial"/>
                <a:ea typeface="Arial"/>
                <a:cs typeface="Arial"/>
              </a:rPr>
              <a:t>A 365-day agent-based virtual farm experiment (ViCBio DM)</a:t>
            </a:r>
          </a:p>
        </p:txBody>
      </p:sp>
      <p:sp>
        <p:nvSpPr>
          <p:cNvPr id="7" name="">
            <a:extLst xmlns:a="http://schemas.openxmlformats.org/drawingml/2006/main">
              <a:ext uri="{FF2B5EF4-FFF2-40B4-BE49-F238E27FC236}">
                <a16:creationId xmlns:a16="http://schemas.microsoft.com/office/drawing/2014/main" id="{CC6EBA04-6791-45C8-A05D-139FCDBD007A}"/>
              </a:ext>
            </a:extLst>
          </p:cNvPr>
          <p:cNvSpPr>
            <a:spLocks xmlns:a="http://schemas.openxmlformats.org/drawingml/2006/main" noGrp="1"/>
          </p:cNvSpPr>
          <p:nvPr/>
        </p:nvSpPr>
        <p:spPr>
          <a:xfrm xmlns:a="http://schemas.openxmlformats.org/drawingml/2006/main">
            <a:off x="1219200" y="3619500"/>
            <a:ext cx="2914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2325" b="1" i="0">
                <a:solidFill>
                  <a:srgbClr val="FFFFFF"/>
                </a:solidFill>
                <a:latin typeface="Arial"/>
                <a:ea typeface="Arial"/>
                <a:cs typeface="Arial"/>
              </a:defRPr>
            </a:pPr>
            <a:r>
              <a:rPr sz="2325" b="1" i="0">
                <a:solidFill>
                  <a:srgbClr val="FFFFFF"/>
                </a:solidFill>
                <a:latin typeface="Arial"/>
                <a:ea typeface="Arial"/>
                <a:cs typeface="Arial"/>
              </a:rPr>
              <a:t>Megha Poyyara Saiju¹  ·  Manogna Rayala²  ·  Karun Kaniyamattam¹</a:t>
            </a:r>
          </a:p>
        </p:txBody>
      </p:sp>
      <p:sp>
        <p:nvSpPr>
          <p:cNvPr id="8" name="">
            <a:extLst xmlns:a="http://schemas.openxmlformats.org/drawingml/2006/main">
              <a:ext uri="{FF2B5EF4-FFF2-40B4-BE49-F238E27FC236}">
                <a16:creationId xmlns:a16="http://schemas.microsoft.com/office/drawing/2014/main" id="{CB0DE3DD-7C3F-4206-9D9A-6E04BFFD2C81}"/>
              </a:ext>
            </a:extLst>
          </p:cNvPr>
          <p:cNvSpPr>
            <a:spLocks xmlns:a="http://schemas.openxmlformats.org/drawingml/2006/main" noGrp="1"/>
          </p:cNvSpPr>
          <p:nvPr/>
        </p:nvSpPr>
        <p:spPr>
          <a:xfrm xmlns:a="http://schemas.openxmlformats.org/drawingml/2006/main">
            <a:off x="30670500" y="3533775"/>
            <a:ext cx="1733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r">
              <a:lnSpc>
                <a:spcPct val="104000"/>
              </a:lnSpc>
              <a:buNone/>
              <a:defRPr sz="2025" b="0" i="0">
                <a:solidFill>
                  <a:srgbClr val="FFFFFF"/>
                </a:solidFill>
                <a:latin typeface="Arial"/>
                <a:ea typeface="Arial"/>
                <a:cs typeface="Arial"/>
              </a:defRPr>
            </a:pPr>
            <a:r>
              <a:rPr sz="2025" b="0" i="0">
                <a:solidFill>
                  <a:srgbClr val="FFFFFF"/>
                </a:solidFill>
                <a:latin typeface="Arial"/>
                <a:ea typeface="Arial"/>
                <a:cs typeface="Arial"/>
              </a:rPr>
              <a:t>¹Department of Animal Science  |  ²Department of Statistics  |  Texas A&amp;M University</a:t>
            </a:r>
          </a:p>
        </p:txBody>
      </p:sp>
      <p:sp>
        <p:nvSpPr>
          <p:cNvPr id="9" name="">
            <a:extLst xmlns:a="http://schemas.openxmlformats.org/drawingml/2006/main">
              <a:ext uri="{FF2B5EF4-FFF2-40B4-BE49-F238E27FC236}">
                <a16:creationId xmlns:a16="http://schemas.microsoft.com/office/drawing/2014/main" id="{AFAE30A8-7FF2-4E3E-9726-DD1FE4D2B9BD}"/>
              </a:ext>
            </a:extLst>
          </p:cNvPr>
          <p:cNvSpPr>
            <a:spLocks xmlns:a="http://schemas.openxmlformats.org/drawingml/2006/main" noGrp="1"/>
          </p:cNvSpPr>
          <p:nvPr/>
        </p:nvSpPr>
        <p:spPr>
          <a:xfrm xmlns:a="http://schemas.openxmlformats.org/drawingml/2006/main">
            <a:off x="1143000" y="4991100"/>
            <a:ext cx="11049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14288">
            <a:solidFill>
              <a:srgbClr val="D7D0C7"/>
            </a:solidFill>
            <a:prstDash val="solid"/>
          </a:ln>
        </p:spPr>
      </p:sp>
      <p:sp>
        <p:nvSpPr>
          <p:cNvPr id="10" name="">
            <a:extLst xmlns:a="http://schemas.openxmlformats.org/drawingml/2006/main">
              <a:ext uri="{FF2B5EF4-FFF2-40B4-BE49-F238E27FC236}">
                <a16:creationId xmlns:a16="http://schemas.microsoft.com/office/drawing/2014/main" id="{555EC0AF-8091-4A0D-A6EE-05ACDFF8C81C}"/>
              </a:ext>
            </a:extLst>
          </p:cNvPr>
          <p:cNvSpPr>
            <a:spLocks xmlns:a="http://schemas.openxmlformats.org/drawingml/2006/main" noGrp="1"/>
          </p:cNvSpPr>
          <p:nvPr/>
        </p:nvSpPr>
        <p:spPr>
          <a:xfrm xmlns:a="http://schemas.openxmlformats.org/drawingml/2006/main">
            <a:off x="1143000" y="4991100"/>
            <a:ext cx="133350" cy="4667250"/>
          </a:xfrm>
          <a:prstGeom xmlns:a="http://schemas.openxmlformats.org/drawingml/2006/main" prst="rect">
            <a:avLst/>
          </a:prstGeom>
          <a:solidFill xmlns:a="http://schemas.openxmlformats.org/drawingml/2006/main">
            <a:srgbClr val="B8872D"/>
          </a:solidFill>
          <a:ln xmlns:a="http://schemas.openxmlformats.org/drawingml/2006/main" w="0">
            <a:noFill/>
          </a:ln>
        </p:spPr>
      </p:sp>
      <p:sp>
        <p:nvSpPr>
          <p:cNvPr id="11" name="Why this matters-heading">
            <a:extLst xmlns:a="http://schemas.openxmlformats.org/drawingml/2006/main">
              <a:ext uri="{FF2B5EF4-FFF2-40B4-BE49-F238E27FC236}">
                <a16:creationId xmlns:a16="http://schemas.microsoft.com/office/drawing/2014/main" id="{89410B87-85BA-4643-9C3E-000F0402522E}"/>
              </a:ext>
            </a:extLst>
          </p:cNvPr>
          <p:cNvSpPr>
            <a:spLocks xmlns:a="http://schemas.openxmlformats.org/drawingml/2006/main" noGrp="1"/>
          </p:cNvSpPr>
          <p:nvPr/>
        </p:nvSpPr>
        <p:spPr>
          <a:xfrm xmlns:a="http://schemas.openxmlformats.org/drawingml/2006/main">
            <a:off x="1466850" y="5219700"/>
            <a:ext cx="1043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Why this matters</a:t>
            </a:r>
          </a:p>
        </p:txBody>
      </p:sp>
      <p:sp>
        <p:nvSpPr>
          <p:cNvPr id="12" name="">
            <a:extLst xmlns:a="http://schemas.openxmlformats.org/drawingml/2006/main">
              <a:ext uri="{FF2B5EF4-FFF2-40B4-BE49-F238E27FC236}">
                <a16:creationId xmlns:a16="http://schemas.microsoft.com/office/drawing/2014/main" id="{A3521DEE-5D96-45ED-9440-AB6731BF2AB9}"/>
              </a:ext>
            </a:extLst>
          </p:cNvPr>
          <p:cNvSpPr>
            <a:spLocks xmlns:a="http://schemas.openxmlformats.org/drawingml/2006/main" noGrp="1"/>
          </p:cNvSpPr>
          <p:nvPr/>
        </p:nvSpPr>
        <p:spPr>
          <a:xfrm xmlns:a="http://schemas.openxmlformats.org/drawingml/2006/main">
            <a:off x="1466850" y="5867400"/>
            <a:ext cx="104013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13" name="">
            <a:extLst xmlns:a="http://schemas.openxmlformats.org/drawingml/2006/main">
              <a:ext uri="{FF2B5EF4-FFF2-40B4-BE49-F238E27FC236}">
                <a16:creationId xmlns:a16="http://schemas.microsoft.com/office/drawing/2014/main" id="{596E8B94-19B1-47BE-A0C8-459DA04563F4}"/>
              </a:ext>
            </a:extLst>
          </p:cNvPr>
          <p:cNvSpPr>
            <a:spLocks xmlns:a="http://schemas.openxmlformats.org/drawingml/2006/main" noGrp="1"/>
          </p:cNvSpPr>
          <p:nvPr/>
        </p:nvSpPr>
        <p:spPr>
          <a:xfrm xmlns:a="http://schemas.openxmlformats.org/drawingml/2006/main">
            <a:off x="1485900" y="6057900"/>
            <a:ext cx="10363200" cy="3371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8000"/>
              </a:lnSpc>
              <a:buNone/>
              <a:defRPr sz="2400" b="0" i="0">
                <a:solidFill>
                  <a:srgbClr val="202020"/>
                </a:solidFill>
                <a:latin typeface="Arial"/>
                <a:ea typeface="Arial"/>
                <a:cs typeface="Arial"/>
              </a:defRPr>
            </a:pPr>
            <a:r>
              <a:rPr sz="2400" b="0" i="0">
                <a:solidFill>
                  <a:srgbClr val="202020"/>
                </a:solidFill>
                <a:latin typeface="Arial"/>
                <a:ea typeface="Arial"/>
                <a:cs typeface="Arial"/>
              </a:rPr>
              <a:t>The 2022 USDA Census reported $52.8B in milk sales while dairy farm numbers fell 39%. Specialized dairy production expenses reached $43.9B; feed represented 46%. Circular technologies may recover value, but their interactions must be tested under the same farm constraints.</a:t>
            </a:r>
          </a:p>
        </p:txBody>
      </p:sp>
      <p:sp>
        <p:nvSpPr>
          <p:cNvPr id="14" name="">
            <a:extLst xmlns:a="http://schemas.openxmlformats.org/drawingml/2006/main">
              <a:ext uri="{FF2B5EF4-FFF2-40B4-BE49-F238E27FC236}">
                <a16:creationId xmlns:a16="http://schemas.microsoft.com/office/drawing/2014/main" id="{4135313B-85EF-4C83-A4C9-C38A0A2F6BF6}"/>
              </a:ext>
            </a:extLst>
          </p:cNvPr>
          <p:cNvSpPr>
            <a:spLocks xmlns:a="http://schemas.openxmlformats.org/drawingml/2006/main" noGrp="1"/>
          </p:cNvSpPr>
          <p:nvPr/>
        </p:nvSpPr>
        <p:spPr>
          <a:xfrm xmlns:a="http://schemas.openxmlformats.org/drawingml/2006/main">
            <a:off x="1143000" y="9867900"/>
            <a:ext cx="11049000" cy="54292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14288">
            <a:solidFill>
              <a:srgbClr val="D7D0C7"/>
            </a:solidFill>
            <a:prstDash val="solid"/>
          </a:ln>
        </p:spPr>
      </p:sp>
      <p:sp>
        <p:nvSpPr>
          <p:cNvPr id="15" name="">
            <a:extLst xmlns:a="http://schemas.openxmlformats.org/drawingml/2006/main">
              <a:ext uri="{FF2B5EF4-FFF2-40B4-BE49-F238E27FC236}">
                <a16:creationId xmlns:a16="http://schemas.microsoft.com/office/drawing/2014/main" id="{DFC0C887-DFD2-4FB7-A696-490EF62D2BD1}"/>
              </a:ext>
            </a:extLst>
          </p:cNvPr>
          <p:cNvSpPr>
            <a:spLocks xmlns:a="http://schemas.openxmlformats.org/drawingml/2006/main" noGrp="1"/>
          </p:cNvSpPr>
          <p:nvPr/>
        </p:nvSpPr>
        <p:spPr>
          <a:xfrm xmlns:a="http://schemas.openxmlformats.org/drawingml/2006/main">
            <a:off x="1143000" y="9867900"/>
            <a:ext cx="133350" cy="5429250"/>
          </a:xfrm>
          <a:prstGeom xmlns:a="http://schemas.openxmlformats.org/drawingml/2006/main" prst="rect">
            <a:avLst/>
          </a:prstGeom>
          <a:solidFill xmlns:a="http://schemas.openxmlformats.org/drawingml/2006/main">
            <a:srgbClr val="2C7180"/>
          </a:solidFill>
          <a:ln xmlns:a="http://schemas.openxmlformats.org/drawingml/2006/main" w="0">
            <a:noFill/>
          </a:ln>
        </p:spPr>
      </p:sp>
      <p:sp>
        <p:nvSpPr>
          <p:cNvPr id="16" name="Objective &amp; hypothesis-heading">
            <a:extLst xmlns:a="http://schemas.openxmlformats.org/drawingml/2006/main">
              <a:ext uri="{FF2B5EF4-FFF2-40B4-BE49-F238E27FC236}">
                <a16:creationId xmlns:a16="http://schemas.microsoft.com/office/drawing/2014/main" id="{B29AF56F-FD9A-4F0D-8CDB-0066542E2BFB}"/>
              </a:ext>
            </a:extLst>
          </p:cNvPr>
          <p:cNvSpPr>
            <a:spLocks xmlns:a="http://schemas.openxmlformats.org/drawingml/2006/main" noGrp="1"/>
          </p:cNvSpPr>
          <p:nvPr/>
        </p:nvSpPr>
        <p:spPr>
          <a:xfrm xmlns:a="http://schemas.openxmlformats.org/drawingml/2006/main">
            <a:off x="1466850" y="10096500"/>
            <a:ext cx="1043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Objective &amp; hypothesis</a:t>
            </a:r>
          </a:p>
        </p:txBody>
      </p:sp>
      <p:sp>
        <p:nvSpPr>
          <p:cNvPr id="17" name="">
            <a:extLst xmlns:a="http://schemas.openxmlformats.org/drawingml/2006/main">
              <a:ext uri="{FF2B5EF4-FFF2-40B4-BE49-F238E27FC236}">
                <a16:creationId xmlns:a16="http://schemas.microsoft.com/office/drawing/2014/main" id="{6E627EC5-0C86-4453-8E4B-7E480AB08F02}"/>
              </a:ext>
            </a:extLst>
          </p:cNvPr>
          <p:cNvSpPr>
            <a:spLocks xmlns:a="http://schemas.openxmlformats.org/drawingml/2006/main" noGrp="1"/>
          </p:cNvSpPr>
          <p:nvPr/>
        </p:nvSpPr>
        <p:spPr>
          <a:xfrm xmlns:a="http://schemas.openxmlformats.org/drawingml/2006/main">
            <a:off x="1466850" y="10744200"/>
            <a:ext cx="104013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18" name="">
            <a:extLst xmlns:a="http://schemas.openxmlformats.org/drawingml/2006/main">
              <a:ext uri="{FF2B5EF4-FFF2-40B4-BE49-F238E27FC236}">
                <a16:creationId xmlns:a16="http://schemas.microsoft.com/office/drawing/2014/main" id="{834B1636-F6F4-4B8E-8BF7-1F296D1159AE}"/>
              </a:ext>
            </a:extLst>
          </p:cNvPr>
          <p:cNvSpPr>
            <a:spLocks xmlns:a="http://schemas.openxmlformats.org/drawingml/2006/main" noGrp="1"/>
          </p:cNvSpPr>
          <p:nvPr/>
        </p:nvSpPr>
        <p:spPr>
          <a:xfrm xmlns:a="http://schemas.openxmlformats.org/drawingml/2006/main">
            <a:off x="1485900" y="1093470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1800" b="1" i="0">
                <a:solidFill>
                  <a:srgbClr val="2C7180"/>
                </a:solidFill>
                <a:latin typeface="Arial"/>
                <a:ea typeface="Arial"/>
                <a:cs typeface="Arial"/>
              </a:defRPr>
            </a:pPr>
            <a:r>
              <a:rPr sz="1800" b="1" i="0">
                <a:solidFill>
                  <a:srgbClr val="2C7180"/>
                </a:solidFill>
                <a:latin typeface="Arial"/>
                <a:ea typeface="Arial"/>
                <a:cs typeface="Arial"/>
              </a:rPr>
              <a:t>OBJECTIVE</a:t>
            </a:r>
          </a:p>
        </p:txBody>
      </p:sp>
      <p:sp>
        <p:nvSpPr>
          <p:cNvPr id="19" name="">
            <a:extLst xmlns:a="http://schemas.openxmlformats.org/drawingml/2006/main">
              <a:ext uri="{FF2B5EF4-FFF2-40B4-BE49-F238E27FC236}">
                <a16:creationId xmlns:a16="http://schemas.microsoft.com/office/drawing/2014/main" id="{7ACF06A5-EB45-411E-B618-A41CEB34CF15}"/>
              </a:ext>
            </a:extLst>
          </p:cNvPr>
          <p:cNvSpPr>
            <a:spLocks xmlns:a="http://schemas.openxmlformats.org/drawingml/2006/main" noGrp="1"/>
          </p:cNvSpPr>
          <p:nvPr/>
        </p:nvSpPr>
        <p:spPr>
          <a:xfrm xmlns:a="http://schemas.openxmlformats.org/drawingml/2006/main">
            <a:off x="1485900" y="11296650"/>
            <a:ext cx="103632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5000"/>
              </a:lnSpc>
              <a:buNone/>
              <a:defRPr sz="2400" b="0" i="0">
                <a:solidFill>
                  <a:srgbClr val="202020"/>
                </a:solidFill>
                <a:latin typeface="Arial"/>
                <a:ea typeface="Arial"/>
                <a:cs typeface="Arial"/>
              </a:defRPr>
            </a:pPr>
            <a:r>
              <a:rPr sz="2400" b="0" i="0">
                <a:solidFill>
                  <a:srgbClr val="202020"/>
                </a:solidFill>
                <a:latin typeface="Arial"/>
                <a:ea typeface="Arial"/>
                <a:cs typeface="Arial"/>
              </a:rPr>
              <a:t>Quantify how L1 nutrient, L2 water, L3 energy, and L4 processing/product loops change annual operating profit, net GHG emissions, freshwater withdrawal, and circularity.</a:t>
            </a:r>
          </a:p>
        </p:txBody>
      </p:sp>
      <p:sp>
        <p:nvSpPr>
          <p:cNvPr id="20" name="">
            <a:extLst xmlns:a="http://schemas.openxmlformats.org/drawingml/2006/main">
              <a:ext uri="{FF2B5EF4-FFF2-40B4-BE49-F238E27FC236}">
                <a16:creationId xmlns:a16="http://schemas.microsoft.com/office/drawing/2014/main" id="{2B27ED63-34A2-4B1C-80DA-0B0BA655A783}"/>
              </a:ext>
            </a:extLst>
          </p:cNvPr>
          <p:cNvSpPr>
            <a:spLocks xmlns:a="http://schemas.openxmlformats.org/drawingml/2006/main" noGrp="1"/>
          </p:cNvSpPr>
          <p:nvPr/>
        </p:nvSpPr>
        <p:spPr>
          <a:xfrm xmlns:a="http://schemas.openxmlformats.org/drawingml/2006/main">
            <a:off x="1485900" y="13068300"/>
            <a:ext cx="1036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1800" b="1" i="0">
                <a:solidFill>
                  <a:srgbClr val="2C7180"/>
                </a:solidFill>
                <a:latin typeface="Arial"/>
                <a:ea typeface="Arial"/>
                <a:cs typeface="Arial"/>
              </a:defRPr>
            </a:pPr>
            <a:r>
              <a:rPr sz="1800" b="1" i="0">
                <a:solidFill>
                  <a:srgbClr val="2C7180"/>
                </a:solidFill>
                <a:latin typeface="Arial"/>
                <a:ea typeface="Arial"/>
                <a:cs typeface="Arial"/>
              </a:rPr>
              <a:t>HYPOTHESIS</a:t>
            </a:r>
          </a:p>
        </p:txBody>
      </p:sp>
      <p:sp>
        <p:nvSpPr>
          <p:cNvPr id="21" name="">
            <a:extLst xmlns:a="http://schemas.openxmlformats.org/drawingml/2006/main">
              <a:ext uri="{FF2B5EF4-FFF2-40B4-BE49-F238E27FC236}">
                <a16:creationId xmlns:a16="http://schemas.microsoft.com/office/drawing/2014/main" id="{03F3BF91-FEA0-4F45-977C-CA38A0DCDB48}"/>
              </a:ext>
            </a:extLst>
          </p:cNvPr>
          <p:cNvSpPr>
            <a:spLocks xmlns:a="http://schemas.openxmlformats.org/drawingml/2006/main" noGrp="1"/>
          </p:cNvSpPr>
          <p:nvPr/>
        </p:nvSpPr>
        <p:spPr>
          <a:xfrm xmlns:a="http://schemas.openxmlformats.org/drawingml/2006/main">
            <a:off x="1485900" y="13449300"/>
            <a:ext cx="10363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5000"/>
              </a:lnSpc>
              <a:buNone/>
              <a:defRPr sz="2400" b="0" i="0">
                <a:solidFill>
                  <a:srgbClr val="202020"/>
                </a:solidFill>
                <a:latin typeface="Arial"/>
                <a:ea typeface="Arial"/>
                <a:cs typeface="Arial"/>
              </a:defRPr>
            </a:pPr>
            <a:r>
              <a:rPr sz="2400" b="0" i="0">
                <a:solidFill>
                  <a:srgbClr val="202020"/>
                </a:solidFill>
                <a:latin typeface="Arial"/>
                <a:ea typeface="Arial"/>
                <a:cs typeface="Arial"/>
              </a:rPr>
              <a:t>Adding loops will increase profit and circularity while reducing net GHG emissions and freshwater withdrawal relative to the same farm with all loop toggles off.</a:t>
            </a:r>
          </a:p>
        </p:txBody>
      </p:sp>
      <p:sp>
        <p:nvSpPr>
          <p:cNvPr id="22" name="">
            <a:extLst xmlns:a="http://schemas.openxmlformats.org/drawingml/2006/main">
              <a:ext uri="{FF2B5EF4-FFF2-40B4-BE49-F238E27FC236}">
                <a16:creationId xmlns:a16="http://schemas.microsoft.com/office/drawing/2014/main" id="{7A833C4C-320B-47C1-89D6-2738AD01AD97}"/>
              </a:ext>
            </a:extLst>
          </p:cNvPr>
          <p:cNvSpPr>
            <a:spLocks xmlns:a="http://schemas.openxmlformats.org/drawingml/2006/main" noGrp="1"/>
          </p:cNvSpPr>
          <p:nvPr/>
        </p:nvSpPr>
        <p:spPr>
          <a:xfrm xmlns:a="http://schemas.openxmlformats.org/drawingml/2006/main">
            <a:off x="1143000" y="15506700"/>
            <a:ext cx="11049000" cy="10439400"/>
          </a:xfrm>
          <a:prstGeom xmlns:a="http://schemas.openxmlformats.org/drawingml/2006/main" prst="roundRect">
            <a:avLst>
              <a:gd name="adj" fmla="val 1642"/>
            </a:avLst>
          </a:prstGeom>
          <a:solidFill xmlns:a="http://schemas.openxmlformats.org/drawingml/2006/main">
            <a:srgbClr val="FFFFFF"/>
          </a:solidFill>
          <a:ln xmlns:a="http://schemas.openxmlformats.org/drawingml/2006/main" w="14288">
            <a:solidFill>
              <a:srgbClr val="D7D0C7"/>
            </a:solidFill>
            <a:prstDash val="solid"/>
          </a:ln>
        </p:spPr>
      </p:sp>
      <p:sp>
        <p:nvSpPr>
          <p:cNvPr id="23" name="">
            <a:extLst xmlns:a="http://schemas.openxmlformats.org/drawingml/2006/main">
              <a:ext uri="{FF2B5EF4-FFF2-40B4-BE49-F238E27FC236}">
                <a16:creationId xmlns:a16="http://schemas.microsoft.com/office/drawing/2014/main" id="{D89451C6-E172-4FBB-B8B0-CE000F8501B1}"/>
              </a:ext>
            </a:extLst>
          </p:cNvPr>
          <p:cNvSpPr>
            <a:spLocks xmlns:a="http://schemas.openxmlformats.org/drawingml/2006/main" noGrp="1"/>
          </p:cNvSpPr>
          <p:nvPr/>
        </p:nvSpPr>
        <p:spPr>
          <a:xfrm xmlns:a="http://schemas.openxmlformats.org/drawingml/2006/main">
            <a:off x="1143000" y="15506700"/>
            <a:ext cx="133350" cy="10439400"/>
          </a:xfrm>
          <a:prstGeom xmlns:a="http://schemas.openxmlformats.org/drawingml/2006/main" prst="rect">
            <a:avLst/>
          </a:prstGeom>
          <a:solidFill xmlns:a="http://schemas.openxmlformats.org/drawingml/2006/main">
            <a:srgbClr val="32735F"/>
          </a:solidFill>
          <a:ln xmlns:a="http://schemas.openxmlformats.org/drawingml/2006/main" w="0">
            <a:noFill/>
          </a:ln>
        </p:spPr>
      </p:sp>
      <p:sp>
        <p:nvSpPr>
          <p:cNvPr id="24" name="ViCBio DM architecture-heading">
            <a:extLst xmlns:a="http://schemas.openxmlformats.org/drawingml/2006/main">
              <a:ext uri="{FF2B5EF4-FFF2-40B4-BE49-F238E27FC236}">
                <a16:creationId xmlns:a16="http://schemas.microsoft.com/office/drawing/2014/main" id="{D729DC6E-1BD5-4C50-B938-388F646620AB}"/>
              </a:ext>
            </a:extLst>
          </p:cNvPr>
          <p:cNvSpPr>
            <a:spLocks xmlns:a="http://schemas.openxmlformats.org/drawingml/2006/main" noGrp="1"/>
          </p:cNvSpPr>
          <p:nvPr/>
        </p:nvSpPr>
        <p:spPr>
          <a:xfrm xmlns:a="http://schemas.openxmlformats.org/drawingml/2006/main">
            <a:off x="1466850" y="15735300"/>
            <a:ext cx="1043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ViCBio DM architecture</a:t>
            </a:r>
          </a:p>
        </p:txBody>
      </p:sp>
      <p:sp>
        <p:nvSpPr>
          <p:cNvPr id="25" name="">
            <a:extLst xmlns:a="http://schemas.openxmlformats.org/drawingml/2006/main">
              <a:ext uri="{FF2B5EF4-FFF2-40B4-BE49-F238E27FC236}">
                <a16:creationId xmlns:a16="http://schemas.microsoft.com/office/drawing/2014/main" id="{47CB68B9-03A4-4356-B634-C560711C1EB8}"/>
              </a:ext>
            </a:extLst>
          </p:cNvPr>
          <p:cNvSpPr>
            <a:spLocks xmlns:a="http://schemas.openxmlformats.org/drawingml/2006/main" noGrp="1"/>
          </p:cNvSpPr>
          <p:nvPr/>
        </p:nvSpPr>
        <p:spPr>
          <a:xfrm xmlns:a="http://schemas.openxmlformats.org/drawingml/2006/main">
            <a:off x="1466850" y="16383000"/>
            <a:ext cx="104013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26" name="">
            <a:extLst xmlns:a="http://schemas.openxmlformats.org/drawingml/2006/main">
              <a:ext uri="{FF2B5EF4-FFF2-40B4-BE49-F238E27FC236}">
                <a16:creationId xmlns:a16="http://schemas.microsoft.com/office/drawing/2014/main" id="{77EE9111-6EA8-4868-8CBC-5EA951E83C75}"/>
              </a:ext>
            </a:extLst>
          </p:cNvPr>
          <p:cNvSpPr>
            <a:spLocks xmlns:a="http://schemas.openxmlformats.org/drawingml/2006/main" noGrp="1"/>
          </p:cNvSpPr>
          <p:nvPr/>
        </p:nvSpPr>
        <p:spPr>
          <a:xfrm xmlns:a="http://schemas.openxmlformats.org/drawingml/2006/main">
            <a:off x="1485900" y="165735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75" b="1" i="0">
                <a:solidFill>
                  <a:srgbClr val="5F5B56"/>
                </a:solidFill>
                <a:latin typeface="Arial"/>
                <a:ea typeface="Arial"/>
                <a:cs typeface="Arial"/>
              </a:defRPr>
            </a:pPr>
            <a:r>
              <a:rPr sz="1875" b="1" i="0">
                <a:solidFill>
                  <a:srgbClr val="5F5B56"/>
                </a:solidFill>
                <a:latin typeface="Arial"/>
                <a:ea typeface="Arial"/>
                <a:cs typeface="Arial"/>
              </a:rPr>
              <a:t>13 linked components · fixed daily order · seeded stochastic replay</a:t>
            </a:r>
          </a:p>
        </p:txBody>
      </p:sp>
      <p:sp>
        <p:nvSpPr>
          <p:cNvPr id="27" name="">
            <a:extLst xmlns:a="http://schemas.openxmlformats.org/drawingml/2006/main">
              <a:ext uri="{FF2B5EF4-FFF2-40B4-BE49-F238E27FC236}">
                <a16:creationId xmlns:a16="http://schemas.microsoft.com/office/drawing/2014/main" id="{9A0450F3-1C1F-4C64-8F05-D72679511AF7}"/>
              </a:ext>
            </a:extLst>
          </p:cNvPr>
          <p:cNvSpPr>
            <a:spLocks xmlns:a="http://schemas.openxmlformats.org/drawingml/2006/main" noGrp="1"/>
          </p:cNvSpPr>
          <p:nvPr/>
        </p:nvSpPr>
        <p:spPr>
          <a:xfrm xmlns:a="http://schemas.openxmlformats.org/drawingml/2006/main">
            <a:off x="2628900" y="17183100"/>
            <a:ext cx="6381750" cy="838200"/>
          </a:xfrm>
          <a:prstGeom xmlns:a="http://schemas.openxmlformats.org/drawingml/2006/main" prst="roundRect">
            <a:avLst>
              <a:gd name="adj" fmla="val 20455"/>
            </a:avLst>
          </a:prstGeom>
          <a:solidFill xmlns:a="http://schemas.openxmlformats.org/drawingml/2006/main">
            <a:srgbClr val="F1E4D4"/>
          </a:solidFill>
          <a:ln xmlns:a="http://schemas.openxmlformats.org/drawingml/2006/main" w="13335">
            <a:solidFill>
              <a:srgbClr val="C9C0B6"/>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1">
                <a:solidFill>
                  <a:srgbClr val="202020"/>
                </a:solidFill>
                <a:latin typeface="Arial"/>
                <a:ea typeface="Arial"/>
                <a:cs typeface="Arial"/>
              </a:defRPr>
            </a:pPr>
            <a:r>
              <a:rPr sz="2100" b="1">
                <a:solidFill>
                  <a:srgbClr val="202020"/>
                </a:solidFill>
                <a:latin typeface="Arial"/>
                <a:ea typeface="Arial"/>
                <a:cs typeface="Arial"/>
              </a:rPr>
              <a:t>Market + sensors</a:t>
            </a:r>
          </a:p>
        </p:txBody>
      </p:sp>
      <p:sp>
        <p:nvSpPr>
          <p:cNvPr id="28" name="">
            <a:extLst xmlns:a="http://schemas.openxmlformats.org/drawingml/2006/main">
              <a:ext uri="{FF2B5EF4-FFF2-40B4-BE49-F238E27FC236}">
                <a16:creationId xmlns:a16="http://schemas.microsoft.com/office/drawing/2014/main" id="{53153817-01F0-4CB2-A5BA-260220022916}"/>
              </a:ext>
            </a:extLst>
          </p:cNvPr>
          <p:cNvSpPr>
            <a:spLocks xmlns:a="http://schemas.openxmlformats.org/drawingml/2006/main" noGrp="1"/>
          </p:cNvSpPr>
          <p:nvPr/>
        </p:nvSpPr>
        <p:spPr>
          <a:xfrm xmlns:a="http://schemas.openxmlformats.org/drawingml/2006/main">
            <a:off x="2628900" y="18326100"/>
            <a:ext cx="6381750" cy="838200"/>
          </a:xfrm>
          <a:prstGeom xmlns:a="http://schemas.openxmlformats.org/drawingml/2006/main" prst="roundRect">
            <a:avLst>
              <a:gd name="adj" fmla="val 20455"/>
            </a:avLst>
          </a:prstGeom>
          <a:solidFill xmlns:a="http://schemas.openxmlformats.org/drawingml/2006/main">
            <a:srgbClr val="E6EFEA"/>
          </a:solidFill>
          <a:ln xmlns:a="http://schemas.openxmlformats.org/drawingml/2006/main" w="13335">
            <a:solidFill>
              <a:srgbClr val="C9C0B6"/>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1">
                <a:solidFill>
                  <a:srgbClr val="202020"/>
                </a:solidFill>
                <a:latin typeface="Arial"/>
                <a:ea typeface="Arial"/>
                <a:cs typeface="Arial"/>
              </a:defRPr>
            </a:pPr>
            <a:r>
              <a:rPr sz="2100" b="1">
                <a:solidFill>
                  <a:srgbClr val="202020"/>
                </a:solidFill>
                <a:latin typeface="Arial"/>
                <a:ea typeface="Arial"/>
                <a:cs typeface="Arial"/>
              </a:rPr>
              <a:t>Land + feed/crop</a:t>
            </a:r>
          </a:p>
        </p:txBody>
      </p:sp>
      <p:sp>
        <p:nvSpPr>
          <p:cNvPr id="29" name="">
            <a:extLst xmlns:a="http://schemas.openxmlformats.org/drawingml/2006/main">
              <a:ext uri="{FF2B5EF4-FFF2-40B4-BE49-F238E27FC236}">
                <a16:creationId xmlns:a16="http://schemas.microsoft.com/office/drawing/2014/main" id="{2FD187D2-6957-4297-AC95-069B809EA85C}"/>
              </a:ext>
            </a:extLst>
          </p:cNvPr>
          <p:cNvSpPr>
            <a:spLocks xmlns:a="http://schemas.openxmlformats.org/drawingml/2006/main" noGrp="1"/>
          </p:cNvSpPr>
          <p:nvPr/>
        </p:nvSpPr>
        <p:spPr>
          <a:xfrm xmlns:a="http://schemas.openxmlformats.org/drawingml/2006/main">
            <a:off x="2628900" y="19469100"/>
            <a:ext cx="6381750" cy="838200"/>
          </a:xfrm>
          <a:prstGeom xmlns:a="http://schemas.openxmlformats.org/drawingml/2006/main" prst="roundRect">
            <a:avLst>
              <a:gd name="adj" fmla="val 20455"/>
            </a:avLst>
          </a:prstGeom>
          <a:solidFill xmlns:a="http://schemas.openxmlformats.org/drawingml/2006/main">
            <a:srgbClr val="F4E7E7"/>
          </a:solidFill>
          <a:ln xmlns:a="http://schemas.openxmlformats.org/drawingml/2006/main" w="13335">
            <a:solidFill>
              <a:srgbClr val="C9C0B6"/>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1">
                <a:solidFill>
                  <a:srgbClr val="202020"/>
                </a:solidFill>
                <a:latin typeface="Arial"/>
                <a:ea typeface="Arial"/>
                <a:cs typeface="Arial"/>
              </a:defRPr>
            </a:pPr>
            <a:r>
              <a:rPr sz="2100" b="1">
                <a:solidFill>
                  <a:srgbClr val="202020"/>
                </a:solidFill>
                <a:latin typeface="Arial"/>
                <a:ea typeface="Arial"/>
                <a:cs typeface="Arial"/>
              </a:rPr>
              <a:t>Individual cows + disease</a:t>
            </a:r>
          </a:p>
        </p:txBody>
      </p:sp>
      <p:sp>
        <p:nvSpPr>
          <p:cNvPr id="30" name="">
            <a:extLst xmlns:a="http://schemas.openxmlformats.org/drawingml/2006/main">
              <a:ext uri="{FF2B5EF4-FFF2-40B4-BE49-F238E27FC236}">
                <a16:creationId xmlns:a16="http://schemas.microsoft.com/office/drawing/2014/main" id="{091A3DC7-0376-4067-99E2-58EDBB4AE033}"/>
              </a:ext>
            </a:extLst>
          </p:cNvPr>
          <p:cNvSpPr>
            <a:spLocks xmlns:a="http://schemas.openxmlformats.org/drawingml/2006/main" noGrp="1"/>
          </p:cNvSpPr>
          <p:nvPr/>
        </p:nvSpPr>
        <p:spPr>
          <a:xfrm xmlns:a="http://schemas.openxmlformats.org/drawingml/2006/main">
            <a:off x="2628900" y="20612100"/>
            <a:ext cx="6381750" cy="838200"/>
          </a:xfrm>
          <a:prstGeom xmlns:a="http://schemas.openxmlformats.org/drawingml/2006/main" prst="roundRect">
            <a:avLst>
              <a:gd name="adj" fmla="val 20455"/>
            </a:avLst>
          </a:prstGeom>
          <a:solidFill xmlns:a="http://schemas.openxmlformats.org/drawingml/2006/main">
            <a:srgbClr val="F1E8D6"/>
          </a:solidFill>
          <a:ln xmlns:a="http://schemas.openxmlformats.org/drawingml/2006/main" w="13335">
            <a:solidFill>
              <a:srgbClr val="C9C0B6"/>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1">
                <a:solidFill>
                  <a:srgbClr val="202020"/>
                </a:solidFill>
                <a:latin typeface="Arial"/>
                <a:ea typeface="Arial"/>
                <a:cs typeface="Arial"/>
              </a:defRPr>
            </a:pPr>
            <a:r>
              <a:rPr sz="2100" b="1">
                <a:solidFill>
                  <a:srgbClr val="202020"/>
                </a:solidFill>
                <a:latin typeface="Arial"/>
                <a:ea typeface="Arial"/>
                <a:cs typeface="Arial"/>
              </a:rPr>
              <a:t>Processing + manure routing</a:t>
            </a:r>
          </a:p>
        </p:txBody>
      </p:sp>
      <p:sp>
        <p:nvSpPr>
          <p:cNvPr id="31" name="">
            <a:extLst xmlns:a="http://schemas.openxmlformats.org/drawingml/2006/main">
              <a:ext uri="{FF2B5EF4-FFF2-40B4-BE49-F238E27FC236}">
                <a16:creationId xmlns:a16="http://schemas.microsoft.com/office/drawing/2014/main" id="{8C05C83F-E9E8-4D7D-BFA9-C6A6CEABD6D6}"/>
              </a:ext>
            </a:extLst>
          </p:cNvPr>
          <p:cNvSpPr>
            <a:spLocks xmlns:a="http://schemas.openxmlformats.org/drawingml/2006/main" noGrp="1"/>
          </p:cNvSpPr>
          <p:nvPr/>
        </p:nvSpPr>
        <p:spPr>
          <a:xfrm xmlns:a="http://schemas.openxmlformats.org/drawingml/2006/main">
            <a:off x="2628900" y="21755100"/>
            <a:ext cx="6381750" cy="838200"/>
          </a:xfrm>
          <a:prstGeom xmlns:a="http://schemas.openxmlformats.org/drawingml/2006/main" prst="roundRect">
            <a:avLst>
              <a:gd name="adj" fmla="val 20455"/>
            </a:avLst>
          </a:prstGeom>
          <a:solidFill xmlns:a="http://schemas.openxmlformats.org/drawingml/2006/main">
            <a:srgbClr val="E0EDF0"/>
          </a:solidFill>
          <a:ln xmlns:a="http://schemas.openxmlformats.org/drawingml/2006/main" w="13335">
            <a:solidFill>
              <a:srgbClr val="C9C0B6"/>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1">
                <a:solidFill>
                  <a:srgbClr val="202020"/>
                </a:solidFill>
                <a:latin typeface="Arial"/>
                <a:ea typeface="Arial"/>
                <a:cs typeface="Arial"/>
              </a:defRPr>
            </a:pPr>
            <a:r>
              <a:rPr sz="2100" b="1">
                <a:solidFill>
                  <a:srgbClr val="202020"/>
                </a:solidFill>
                <a:latin typeface="Arial"/>
                <a:ea typeface="Arial"/>
                <a:cs typeface="Arial"/>
              </a:rPr>
              <a:t>Energy + water accounting</a:t>
            </a:r>
          </a:p>
        </p:txBody>
      </p:sp>
      <p:sp>
        <p:nvSpPr>
          <p:cNvPr id="32" name="">
            <a:extLst xmlns:a="http://schemas.openxmlformats.org/drawingml/2006/main">
              <a:ext uri="{FF2B5EF4-FFF2-40B4-BE49-F238E27FC236}">
                <a16:creationId xmlns:a16="http://schemas.microsoft.com/office/drawing/2014/main" id="{53B34548-0911-4F75-9B84-733C310F4912}"/>
              </a:ext>
            </a:extLst>
          </p:cNvPr>
          <p:cNvSpPr>
            <a:spLocks xmlns:a="http://schemas.openxmlformats.org/drawingml/2006/main" noGrp="1"/>
          </p:cNvSpPr>
          <p:nvPr/>
        </p:nvSpPr>
        <p:spPr>
          <a:xfrm xmlns:a="http://schemas.openxmlformats.org/drawingml/2006/main">
            <a:off x="2628900" y="22898100"/>
            <a:ext cx="6381750" cy="838200"/>
          </a:xfrm>
          <a:prstGeom xmlns:a="http://schemas.openxmlformats.org/drawingml/2006/main" prst="roundRect">
            <a:avLst>
              <a:gd name="adj" fmla="val 20455"/>
            </a:avLst>
          </a:prstGeom>
          <a:solidFill xmlns:a="http://schemas.openxmlformats.org/drawingml/2006/main">
            <a:srgbClr val="E8E5E1"/>
          </a:solidFill>
          <a:ln xmlns:a="http://schemas.openxmlformats.org/drawingml/2006/main" w="13335">
            <a:solidFill>
              <a:srgbClr val="C9C0B6"/>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1">
                <a:solidFill>
                  <a:srgbClr val="202020"/>
                </a:solidFill>
                <a:latin typeface="Arial"/>
                <a:ea typeface="Arial"/>
                <a:cs typeface="Arial"/>
              </a:defRPr>
            </a:pPr>
            <a:r>
              <a:rPr sz="2100" b="1">
                <a:solidFill>
                  <a:srgbClr val="202020"/>
                </a:solidFill>
                <a:latin typeface="Arial"/>
                <a:ea typeface="Arial"/>
                <a:cs typeface="Arial"/>
              </a:rPr>
              <a:t>Environment + farm manager</a:t>
            </a:r>
          </a:p>
        </p:txBody>
      </p:sp>
      <p:cxnSp>
        <p:nvCxnSpPr>
          <p:cNvPr id="133" name=""/>
          <p:cNvCxnSpPr>
            <a:stCxn xmlns:a="http://schemas.openxmlformats.org/drawingml/2006/main" id="27" idx="2"/>
            <a:endCxn xmlns:a="http://schemas.openxmlformats.org/drawingml/2006/main" id="28" idx="0"/>
          </p:cNvCxnSpPr>
          <p:nvPr/>
        </p:nvCxnSpPr>
        <p:spPr>
          <a:xfrm xmlns:a="http://schemas.openxmlformats.org/drawingml/2006/main">
            <a:off x="5819775" y="18021300"/>
            <a:ext cx="0" cy="304800"/>
          </a:xfrm>
          <a:prstGeom xmlns:a="http://schemas.openxmlformats.org/drawingml/2006/main" prst="straightConnector1">
            <a:avLst/>
          </a:prstGeom>
          <a:ln xmlns:a="http://schemas.openxmlformats.org/drawingml/2006/main" w="20955">
            <a:solidFill>
              <a:srgbClr val="9A938A"/>
            </a:solidFill>
            <a:prstDash val="solid"/>
            <a:headEnd type="triangle" w="sm" len="sm"/>
          </a:ln>
        </p:spPr>
      </p:cxnSp>
      <p:cxnSp>
        <p:nvCxnSpPr>
          <p:cNvPr id="134" name=""/>
          <p:cNvCxnSpPr>
            <a:stCxn xmlns:a="http://schemas.openxmlformats.org/drawingml/2006/main" id="28" idx="2"/>
            <a:endCxn xmlns:a="http://schemas.openxmlformats.org/drawingml/2006/main" id="29" idx="0"/>
          </p:cNvCxnSpPr>
          <p:nvPr/>
        </p:nvCxnSpPr>
        <p:spPr>
          <a:xfrm xmlns:a="http://schemas.openxmlformats.org/drawingml/2006/main">
            <a:off x="5819775" y="19164300"/>
            <a:ext cx="0" cy="304800"/>
          </a:xfrm>
          <a:prstGeom xmlns:a="http://schemas.openxmlformats.org/drawingml/2006/main" prst="straightConnector1">
            <a:avLst/>
          </a:prstGeom>
          <a:ln xmlns:a="http://schemas.openxmlformats.org/drawingml/2006/main" w="20955">
            <a:solidFill>
              <a:srgbClr val="9A938A"/>
            </a:solidFill>
            <a:prstDash val="solid"/>
            <a:headEnd type="triangle" w="sm" len="sm"/>
          </a:ln>
        </p:spPr>
      </p:cxnSp>
      <p:cxnSp>
        <p:nvCxnSpPr>
          <p:cNvPr id="135" name=""/>
          <p:cNvCxnSpPr>
            <a:stCxn xmlns:a="http://schemas.openxmlformats.org/drawingml/2006/main" id="29" idx="2"/>
            <a:endCxn xmlns:a="http://schemas.openxmlformats.org/drawingml/2006/main" id="30" idx="0"/>
          </p:cNvCxnSpPr>
          <p:nvPr/>
        </p:nvCxnSpPr>
        <p:spPr>
          <a:xfrm xmlns:a="http://schemas.openxmlformats.org/drawingml/2006/main">
            <a:off x="5819775" y="20307300"/>
            <a:ext cx="0" cy="304800"/>
          </a:xfrm>
          <a:prstGeom xmlns:a="http://schemas.openxmlformats.org/drawingml/2006/main" prst="straightConnector1">
            <a:avLst/>
          </a:prstGeom>
          <a:ln xmlns:a="http://schemas.openxmlformats.org/drawingml/2006/main" w="20955">
            <a:solidFill>
              <a:srgbClr val="9A938A"/>
            </a:solidFill>
            <a:prstDash val="solid"/>
            <a:headEnd type="triangle" w="sm" len="sm"/>
          </a:ln>
        </p:spPr>
      </p:cxnSp>
      <p:cxnSp>
        <p:nvCxnSpPr>
          <p:cNvPr id="136" name=""/>
          <p:cNvCxnSpPr>
            <a:stCxn xmlns:a="http://schemas.openxmlformats.org/drawingml/2006/main" id="30" idx="2"/>
            <a:endCxn xmlns:a="http://schemas.openxmlformats.org/drawingml/2006/main" id="31" idx="0"/>
          </p:cNvCxnSpPr>
          <p:nvPr/>
        </p:nvCxnSpPr>
        <p:spPr>
          <a:xfrm xmlns:a="http://schemas.openxmlformats.org/drawingml/2006/main">
            <a:off x="5819775" y="21450300"/>
            <a:ext cx="0" cy="304800"/>
          </a:xfrm>
          <a:prstGeom xmlns:a="http://schemas.openxmlformats.org/drawingml/2006/main" prst="straightConnector1">
            <a:avLst/>
          </a:prstGeom>
          <a:ln xmlns:a="http://schemas.openxmlformats.org/drawingml/2006/main" w="20955">
            <a:solidFill>
              <a:srgbClr val="9A938A"/>
            </a:solidFill>
            <a:prstDash val="solid"/>
            <a:headEnd type="triangle" w="sm" len="sm"/>
          </a:ln>
        </p:spPr>
      </p:cxnSp>
      <p:cxnSp>
        <p:nvCxnSpPr>
          <p:cNvPr id="137" name=""/>
          <p:cNvCxnSpPr>
            <a:stCxn xmlns:a="http://schemas.openxmlformats.org/drawingml/2006/main" id="31" idx="2"/>
            <a:endCxn xmlns:a="http://schemas.openxmlformats.org/drawingml/2006/main" id="32" idx="0"/>
          </p:cNvCxnSpPr>
          <p:nvPr/>
        </p:nvCxnSpPr>
        <p:spPr>
          <a:xfrm xmlns:a="http://schemas.openxmlformats.org/drawingml/2006/main">
            <a:off x="5819775" y="22593300"/>
            <a:ext cx="0" cy="304800"/>
          </a:xfrm>
          <a:prstGeom xmlns:a="http://schemas.openxmlformats.org/drawingml/2006/main" prst="straightConnector1">
            <a:avLst/>
          </a:prstGeom>
          <a:ln xmlns:a="http://schemas.openxmlformats.org/drawingml/2006/main" w="20955">
            <a:solidFill>
              <a:srgbClr val="9A938A"/>
            </a:solidFill>
            <a:prstDash val="solid"/>
            <a:headEnd type="triangle" w="sm" len="sm"/>
          </a:ln>
        </p:spPr>
      </p:cxnSp>
      <p:sp>
        <p:nvSpPr>
          <p:cNvPr id="38" name="">
            <a:extLst xmlns:a="http://schemas.openxmlformats.org/drawingml/2006/main">
              <a:ext uri="{FF2B5EF4-FFF2-40B4-BE49-F238E27FC236}">
                <a16:creationId xmlns:a16="http://schemas.microsoft.com/office/drawing/2014/main" id="{462E46FE-BE0A-4CBF-804D-19958EB70EC4}"/>
              </a:ext>
            </a:extLst>
          </p:cNvPr>
          <p:cNvSpPr>
            <a:spLocks xmlns:a="http://schemas.openxmlformats.org/drawingml/2006/main" noGrp="1"/>
          </p:cNvSpPr>
          <p:nvPr/>
        </p:nvSpPr>
        <p:spPr>
          <a:xfrm xmlns:a="http://schemas.openxmlformats.org/drawingml/2006/main">
            <a:off x="9391650" y="20735925"/>
            <a:ext cx="1047750" cy="361950"/>
          </a:xfrm>
          <a:prstGeom xmlns:a="http://schemas.openxmlformats.org/drawingml/2006/main" prst="roundRect">
            <a:avLst>
              <a:gd name="adj" fmla="val 47368"/>
            </a:avLst>
          </a:prstGeom>
          <a:solidFill xmlns:a="http://schemas.openxmlformats.org/drawingml/2006/main">
            <a:srgbClr val="7A2525"/>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L1</a:t>
            </a:r>
          </a:p>
        </p:txBody>
      </p:sp>
      <p:sp>
        <p:nvSpPr>
          <p:cNvPr id="39" name="">
            <a:extLst xmlns:a="http://schemas.openxmlformats.org/drawingml/2006/main">
              <a:ext uri="{FF2B5EF4-FFF2-40B4-BE49-F238E27FC236}">
                <a16:creationId xmlns:a16="http://schemas.microsoft.com/office/drawing/2014/main" id="{92E21EDB-7D80-4A5B-9690-94C9BADD8C59}"/>
              </a:ext>
            </a:extLst>
          </p:cNvPr>
          <p:cNvSpPr>
            <a:spLocks xmlns:a="http://schemas.openxmlformats.org/drawingml/2006/main" noGrp="1"/>
          </p:cNvSpPr>
          <p:nvPr/>
        </p:nvSpPr>
        <p:spPr>
          <a:xfrm xmlns:a="http://schemas.openxmlformats.org/drawingml/2006/main">
            <a:off x="9391650" y="21802725"/>
            <a:ext cx="1047750" cy="361950"/>
          </a:xfrm>
          <a:prstGeom xmlns:a="http://schemas.openxmlformats.org/drawingml/2006/main" prst="roundRect">
            <a:avLst>
              <a:gd name="adj" fmla="val 47368"/>
            </a:avLst>
          </a:prstGeom>
          <a:solidFill xmlns:a="http://schemas.openxmlformats.org/drawingml/2006/main">
            <a:srgbClr val="2C7180"/>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L2</a:t>
            </a:r>
          </a:p>
        </p:txBody>
      </p:sp>
      <p:sp>
        <p:nvSpPr>
          <p:cNvPr id="40" name="">
            <a:extLst xmlns:a="http://schemas.openxmlformats.org/drawingml/2006/main">
              <a:ext uri="{FF2B5EF4-FFF2-40B4-BE49-F238E27FC236}">
                <a16:creationId xmlns:a16="http://schemas.microsoft.com/office/drawing/2014/main" id="{827C0509-7FD1-40B9-9BB0-55ADCB31F874}"/>
              </a:ext>
            </a:extLst>
          </p:cNvPr>
          <p:cNvSpPr>
            <a:spLocks xmlns:a="http://schemas.openxmlformats.org/drawingml/2006/main" noGrp="1"/>
          </p:cNvSpPr>
          <p:nvPr/>
        </p:nvSpPr>
        <p:spPr>
          <a:xfrm xmlns:a="http://schemas.openxmlformats.org/drawingml/2006/main">
            <a:off x="9391650" y="22212300"/>
            <a:ext cx="1047750" cy="361950"/>
          </a:xfrm>
          <a:prstGeom xmlns:a="http://schemas.openxmlformats.org/drawingml/2006/main" prst="roundRect">
            <a:avLst>
              <a:gd name="adj" fmla="val 47368"/>
            </a:avLst>
          </a:prstGeom>
          <a:solidFill xmlns:a="http://schemas.openxmlformats.org/drawingml/2006/main">
            <a:srgbClr val="B8872D"/>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L3</a:t>
            </a:r>
          </a:p>
        </p:txBody>
      </p:sp>
      <p:sp>
        <p:nvSpPr>
          <p:cNvPr id="41" name="">
            <a:extLst xmlns:a="http://schemas.openxmlformats.org/drawingml/2006/main">
              <a:ext uri="{FF2B5EF4-FFF2-40B4-BE49-F238E27FC236}">
                <a16:creationId xmlns:a16="http://schemas.microsoft.com/office/drawing/2014/main" id="{91C9275B-2F8D-4029-B2F0-C2751D1E5239}"/>
              </a:ext>
            </a:extLst>
          </p:cNvPr>
          <p:cNvSpPr>
            <a:spLocks xmlns:a="http://schemas.openxmlformats.org/drawingml/2006/main" noGrp="1"/>
          </p:cNvSpPr>
          <p:nvPr/>
        </p:nvSpPr>
        <p:spPr>
          <a:xfrm xmlns:a="http://schemas.openxmlformats.org/drawingml/2006/main">
            <a:off x="9391650" y="21145500"/>
            <a:ext cx="1047750" cy="361950"/>
          </a:xfrm>
          <a:prstGeom xmlns:a="http://schemas.openxmlformats.org/drawingml/2006/main" prst="roundRect">
            <a:avLst>
              <a:gd name="adj" fmla="val 47368"/>
            </a:avLst>
          </a:prstGeom>
          <a:solidFill xmlns:a="http://schemas.openxmlformats.org/drawingml/2006/main">
            <a:srgbClr val="32735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L4</a:t>
            </a:r>
          </a:p>
        </p:txBody>
      </p:sp>
      <p:sp>
        <p:nvSpPr>
          <p:cNvPr id="42" name="">
            <a:extLst xmlns:a="http://schemas.openxmlformats.org/drawingml/2006/main">
              <a:ext uri="{FF2B5EF4-FFF2-40B4-BE49-F238E27FC236}">
                <a16:creationId xmlns:a16="http://schemas.microsoft.com/office/drawing/2014/main" id="{549C4E27-9836-4889-92ED-ACC9BDFBC8E6}"/>
              </a:ext>
            </a:extLst>
          </p:cNvPr>
          <p:cNvSpPr>
            <a:spLocks xmlns:a="http://schemas.openxmlformats.org/drawingml/2006/main" noGrp="1"/>
          </p:cNvSpPr>
          <p:nvPr/>
        </p:nvSpPr>
        <p:spPr>
          <a:xfrm xmlns:a="http://schemas.openxmlformats.org/drawingml/2006/main">
            <a:off x="1485900" y="24060150"/>
            <a:ext cx="103632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2025" b="0" i="0">
                <a:solidFill>
                  <a:srgbClr val="5F5B56"/>
                </a:solidFill>
                <a:latin typeface="Arial"/>
                <a:ea typeface="Arial"/>
                <a:cs typeface="Arial"/>
              </a:defRPr>
            </a:pPr>
            <a:r>
              <a:rPr sz="2025" b="0" i="0">
                <a:solidFill>
                  <a:srgbClr val="5F5B56"/>
                </a:solidFill>
                <a:latin typeface="Arial"/>
                <a:ea typeface="Arial"/>
                <a:cs typeface="Arial"/>
              </a:rPr>
              <a:t>Genetics records daily intake and annual gain separately. Agents exchange dated packets carrying source, period, quality, and confidence.</a:t>
            </a:r>
          </a:p>
        </p:txBody>
      </p:sp>
      <p:sp>
        <p:nvSpPr>
          <p:cNvPr id="43" name="">
            <a:extLst xmlns:a="http://schemas.openxmlformats.org/drawingml/2006/main">
              <a:ext uri="{FF2B5EF4-FFF2-40B4-BE49-F238E27FC236}">
                <a16:creationId xmlns:a16="http://schemas.microsoft.com/office/drawing/2014/main" id="{F7853576-FE8A-4C1B-81EB-1538D65CCC3B}"/>
              </a:ext>
            </a:extLst>
          </p:cNvPr>
          <p:cNvSpPr>
            <a:spLocks xmlns:a="http://schemas.openxmlformats.org/drawingml/2006/main" noGrp="1"/>
          </p:cNvSpPr>
          <p:nvPr/>
        </p:nvSpPr>
        <p:spPr>
          <a:xfrm xmlns:a="http://schemas.openxmlformats.org/drawingml/2006/main">
            <a:off x="1143000" y="26155650"/>
            <a:ext cx="11049000" cy="10839450"/>
          </a:xfrm>
          <a:prstGeom xmlns:a="http://schemas.openxmlformats.org/drawingml/2006/main" prst="roundRect">
            <a:avLst>
              <a:gd name="adj" fmla="val 1582"/>
            </a:avLst>
          </a:prstGeom>
          <a:solidFill xmlns:a="http://schemas.openxmlformats.org/drawingml/2006/main">
            <a:srgbClr val="FFFFFF"/>
          </a:solidFill>
          <a:ln xmlns:a="http://schemas.openxmlformats.org/drawingml/2006/main" w="14288">
            <a:solidFill>
              <a:srgbClr val="D7D0C7"/>
            </a:solidFill>
            <a:prstDash val="solid"/>
          </a:ln>
        </p:spPr>
      </p:sp>
      <p:sp>
        <p:nvSpPr>
          <p:cNvPr id="44" name="">
            <a:extLst xmlns:a="http://schemas.openxmlformats.org/drawingml/2006/main">
              <a:ext uri="{FF2B5EF4-FFF2-40B4-BE49-F238E27FC236}">
                <a16:creationId xmlns:a16="http://schemas.microsoft.com/office/drawing/2014/main" id="{F8A7E7B5-4E5E-4B25-9BDF-0D3CD3CB7834}"/>
              </a:ext>
            </a:extLst>
          </p:cNvPr>
          <p:cNvSpPr>
            <a:spLocks xmlns:a="http://schemas.openxmlformats.org/drawingml/2006/main" noGrp="1"/>
          </p:cNvSpPr>
          <p:nvPr/>
        </p:nvSpPr>
        <p:spPr>
          <a:xfrm xmlns:a="http://schemas.openxmlformats.org/drawingml/2006/main">
            <a:off x="1143000" y="26155650"/>
            <a:ext cx="133350" cy="10839450"/>
          </a:xfrm>
          <a:prstGeom xmlns:a="http://schemas.openxmlformats.org/drawingml/2006/main" prst="rect">
            <a:avLst/>
          </a:prstGeom>
          <a:solidFill xmlns:a="http://schemas.openxmlformats.org/drawingml/2006/main">
            <a:srgbClr val="500000"/>
          </a:solidFill>
          <a:ln xmlns:a="http://schemas.openxmlformats.org/drawingml/2006/main" w="0">
            <a:noFill/>
          </a:ln>
        </p:spPr>
      </p:sp>
      <p:sp>
        <p:nvSpPr>
          <p:cNvPr id="45" name="Computational experiment-heading">
            <a:extLst xmlns:a="http://schemas.openxmlformats.org/drawingml/2006/main">
              <a:ext uri="{FF2B5EF4-FFF2-40B4-BE49-F238E27FC236}">
                <a16:creationId xmlns:a16="http://schemas.microsoft.com/office/drawing/2014/main" id="{1B5E6D6D-9985-4759-AC54-B3F070BB3B99}"/>
              </a:ext>
            </a:extLst>
          </p:cNvPr>
          <p:cNvSpPr>
            <a:spLocks xmlns:a="http://schemas.openxmlformats.org/drawingml/2006/main" noGrp="1"/>
          </p:cNvSpPr>
          <p:nvPr/>
        </p:nvSpPr>
        <p:spPr>
          <a:xfrm xmlns:a="http://schemas.openxmlformats.org/drawingml/2006/main">
            <a:off x="1466850" y="26384250"/>
            <a:ext cx="1043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Computational experiment</a:t>
            </a:r>
          </a:p>
        </p:txBody>
      </p:sp>
      <p:sp>
        <p:nvSpPr>
          <p:cNvPr id="46" name="">
            <a:extLst xmlns:a="http://schemas.openxmlformats.org/drawingml/2006/main">
              <a:ext uri="{FF2B5EF4-FFF2-40B4-BE49-F238E27FC236}">
                <a16:creationId xmlns:a16="http://schemas.microsoft.com/office/drawing/2014/main" id="{761DEF76-FBB6-469E-8EE9-2E7601579C23}"/>
              </a:ext>
            </a:extLst>
          </p:cNvPr>
          <p:cNvSpPr>
            <a:spLocks xmlns:a="http://schemas.openxmlformats.org/drawingml/2006/main" noGrp="1"/>
          </p:cNvSpPr>
          <p:nvPr/>
        </p:nvSpPr>
        <p:spPr>
          <a:xfrm xmlns:a="http://schemas.openxmlformats.org/drawingml/2006/main">
            <a:off x="1466850" y="27031950"/>
            <a:ext cx="104013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47" name="">
            <a:extLst xmlns:a="http://schemas.openxmlformats.org/drawingml/2006/main">
              <a:ext uri="{FF2B5EF4-FFF2-40B4-BE49-F238E27FC236}">
                <a16:creationId xmlns:a16="http://schemas.microsoft.com/office/drawing/2014/main" id="{5D97830B-A51A-4287-9F4A-4ECD6FF3853B}"/>
              </a:ext>
            </a:extLst>
          </p:cNvPr>
          <p:cNvSpPr>
            <a:spLocks xmlns:a="http://schemas.openxmlformats.org/drawingml/2006/main" noGrp="1"/>
          </p:cNvSpPr>
          <p:nvPr/>
        </p:nvSpPr>
        <p:spPr>
          <a:xfrm xmlns:a="http://schemas.openxmlformats.org/drawingml/2006/main">
            <a:off x="1485900" y="27222450"/>
            <a:ext cx="10363200" cy="954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 100 cows; 365 days; high-intensity system</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 80 ha cropland + 40 ha pasture</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 Full 2⁴ factorial: all 16 loop combinations</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 Seed 42 for factorial; seeds 1–12 for robustness</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 Processor, whey, and land components available in every run</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 Amino-acid water savings and automatic manager responses disabled to isolate loop effects</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 Calibration prices with configured stochastic shock</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 Daily records aggregated to annual metrics</a:t>
            </a:r>
          </a:p>
        </p:txBody>
      </p:sp>
      <p:sp>
        <p:nvSpPr>
          <p:cNvPr id="48" name="">
            <a:extLst xmlns:a="http://schemas.openxmlformats.org/drawingml/2006/main">
              <a:ext uri="{FF2B5EF4-FFF2-40B4-BE49-F238E27FC236}">
                <a16:creationId xmlns:a16="http://schemas.microsoft.com/office/drawing/2014/main" id="{DC274306-BAFA-40A6-97AE-63F06068687D}"/>
              </a:ext>
            </a:extLst>
          </p:cNvPr>
          <p:cNvSpPr>
            <a:spLocks xmlns:a="http://schemas.openxmlformats.org/drawingml/2006/main" noGrp="1"/>
          </p:cNvSpPr>
          <p:nvPr/>
        </p:nvSpPr>
        <p:spPr>
          <a:xfrm xmlns:a="http://schemas.openxmlformats.org/drawingml/2006/main">
            <a:off x="1485900" y="34461450"/>
            <a:ext cx="10363200" cy="1733550"/>
          </a:xfrm>
          <a:prstGeom xmlns:a="http://schemas.openxmlformats.org/drawingml/2006/main" prst="roundRect">
            <a:avLst>
              <a:gd name="adj" fmla="val 9890"/>
            </a:avLst>
          </a:prstGeom>
          <a:solidFill xmlns:a="http://schemas.openxmlformats.org/drawingml/2006/main">
            <a:srgbClr val="F8EDED"/>
          </a:solidFill>
          <a:ln xmlns:a="http://schemas.openxmlformats.org/drawingml/2006/main" w="11430">
            <a:solidFill>
              <a:srgbClr val="D6B4B4"/>
            </a:solidFill>
            <a:prstDash val="solid"/>
          </a:ln>
        </p:spPr>
      </p:sp>
      <p:sp>
        <p:nvSpPr>
          <p:cNvPr id="49" name="">
            <a:extLst xmlns:a="http://schemas.openxmlformats.org/drawingml/2006/main">
              <a:ext uri="{FF2B5EF4-FFF2-40B4-BE49-F238E27FC236}">
                <a16:creationId xmlns:a16="http://schemas.microsoft.com/office/drawing/2014/main" id="{E3792330-DFB6-42A0-9D4B-2B84A2D78215}"/>
              </a:ext>
            </a:extLst>
          </p:cNvPr>
          <p:cNvSpPr>
            <a:spLocks xmlns:a="http://schemas.openxmlformats.org/drawingml/2006/main" noGrp="1"/>
          </p:cNvSpPr>
          <p:nvPr/>
        </p:nvSpPr>
        <p:spPr>
          <a:xfrm xmlns:a="http://schemas.openxmlformats.org/drawingml/2006/main">
            <a:off x="1695450" y="34747200"/>
            <a:ext cx="99441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4000"/>
              </a:lnSpc>
              <a:buNone/>
              <a:defRPr sz="2400" b="1" i="0">
                <a:solidFill>
                  <a:srgbClr val="500000"/>
                </a:solidFill>
                <a:latin typeface="Arial"/>
                <a:ea typeface="Arial"/>
                <a:cs typeface="Arial"/>
              </a:defRPr>
            </a:pPr>
            <a:r>
              <a:rPr sz="2400" b="1" i="0">
                <a:solidFill>
                  <a:srgbClr val="500000"/>
                </a:solidFill>
                <a:latin typeface="Arial"/>
                <a:ea typeface="Arial"/>
                <a:cs typeface="Arial"/>
              </a:rPr>
              <a:t>No capital-cost basis was supplied. ROI and payback are intentionally not reported.</a:t>
            </a:r>
          </a:p>
        </p:txBody>
      </p:sp>
      <p:sp>
        <p:nvSpPr>
          <p:cNvPr id="50" name="">
            <a:extLst xmlns:a="http://schemas.openxmlformats.org/drawingml/2006/main">
              <a:ext uri="{FF2B5EF4-FFF2-40B4-BE49-F238E27FC236}">
                <a16:creationId xmlns:a16="http://schemas.microsoft.com/office/drawing/2014/main" id="{A8AC7B0F-BEE5-4E0B-B550-61E8B2395A36}"/>
              </a:ext>
            </a:extLst>
          </p:cNvPr>
          <p:cNvSpPr>
            <a:spLocks xmlns:a="http://schemas.openxmlformats.org/drawingml/2006/main" noGrp="1"/>
          </p:cNvSpPr>
          <p:nvPr/>
        </p:nvSpPr>
        <p:spPr>
          <a:xfrm xmlns:a="http://schemas.openxmlformats.org/drawingml/2006/main">
            <a:off x="12573000" y="4991100"/>
            <a:ext cx="5572125" cy="2038350"/>
          </a:xfrm>
          <a:prstGeom xmlns:a="http://schemas.openxmlformats.org/drawingml/2006/main" prst="roundRect">
            <a:avLst>
              <a:gd name="adj" fmla="val 8411"/>
            </a:avLst>
          </a:prstGeom>
          <a:solidFill xmlns:a="http://schemas.openxmlformats.org/drawingml/2006/main">
            <a:srgbClr val="FFFFFF"/>
          </a:solidFill>
          <a:ln xmlns:a="http://schemas.openxmlformats.org/drawingml/2006/main" w="11430">
            <a:solidFill>
              <a:srgbClr val="D7D0C7"/>
            </a:solidFill>
            <a:prstDash val="solid"/>
          </a:ln>
        </p:spPr>
      </p:sp>
      <p:sp>
        <p:nvSpPr>
          <p:cNvPr id="51" name="">
            <a:extLst xmlns:a="http://schemas.openxmlformats.org/drawingml/2006/main">
              <a:ext uri="{FF2B5EF4-FFF2-40B4-BE49-F238E27FC236}">
                <a16:creationId xmlns:a16="http://schemas.microsoft.com/office/drawing/2014/main" id="{6BE8493B-C4DF-4DD4-97C4-9F2B06CB84E3}"/>
              </a:ext>
            </a:extLst>
          </p:cNvPr>
          <p:cNvSpPr>
            <a:spLocks xmlns:a="http://schemas.openxmlformats.org/drawingml/2006/main" noGrp="1"/>
          </p:cNvSpPr>
          <p:nvPr/>
        </p:nvSpPr>
        <p:spPr>
          <a:xfrm xmlns:a="http://schemas.openxmlformats.org/drawingml/2006/main">
            <a:off x="12573000" y="4991100"/>
            <a:ext cx="5572125" cy="114300"/>
          </a:xfrm>
          <a:prstGeom xmlns:a="http://schemas.openxmlformats.org/drawingml/2006/main" prst="rect">
            <a:avLst/>
          </a:prstGeom>
          <a:solidFill xmlns:a="http://schemas.openxmlformats.org/drawingml/2006/main">
            <a:srgbClr val="500000"/>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C7313E97-8853-4492-80E8-B5C14E4FEC9F}"/>
              </a:ext>
            </a:extLst>
          </p:cNvPr>
          <p:cNvSpPr>
            <a:spLocks xmlns:a="http://schemas.openxmlformats.org/drawingml/2006/main" noGrp="1"/>
          </p:cNvSpPr>
          <p:nvPr/>
        </p:nvSpPr>
        <p:spPr>
          <a:xfrm xmlns:a="http://schemas.openxmlformats.org/drawingml/2006/main">
            <a:off x="12801600" y="5257800"/>
            <a:ext cx="5114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5F5B56"/>
                </a:solidFill>
                <a:latin typeface="Arial"/>
                <a:ea typeface="Arial"/>
                <a:cs typeface="Arial"/>
              </a:defRPr>
            </a:pPr>
            <a:r>
              <a:rPr sz="1800" b="1" i="0">
                <a:solidFill>
                  <a:srgbClr val="5F5B56"/>
                </a:solidFill>
                <a:latin typeface="Arial"/>
                <a:ea typeface="Arial"/>
                <a:cs typeface="Arial"/>
              </a:rPr>
              <a:t>OPERATING PROFIT</a:t>
            </a:r>
          </a:p>
        </p:txBody>
      </p:sp>
      <p:sp>
        <p:nvSpPr>
          <p:cNvPr id="53" name="">
            <a:extLst xmlns:a="http://schemas.openxmlformats.org/drawingml/2006/main">
              <a:ext uri="{FF2B5EF4-FFF2-40B4-BE49-F238E27FC236}">
                <a16:creationId xmlns:a16="http://schemas.microsoft.com/office/drawing/2014/main" id="{8D72B496-EF0F-4DC4-AA31-19F036AFEBF7}"/>
              </a:ext>
            </a:extLst>
          </p:cNvPr>
          <p:cNvSpPr>
            <a:spLocks xmlns:a="http://schemas.openxmlformats.org/drawingml/2006/main" noGrp="1"/>
          </p:cNvSpPr>
          <p:nvPr/>
        </p:nvSpPr>
        <p:spPr>
          <a:xfrm xmlns:a="http://schemas.openxmlformats.org/drawingml/2006/main">
            <a:off x="12763500" y="5600700"/>
            <a:ext cx="519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4000"/>
              </a:lnSpc>
              <a:buNone/>
              <a:defRPr sz="3900" b="1" i="0">
                <a:solidFill>
                  <a:srgbClr val="500000"/>
                </a:solidFill>
                <a:latin typeface="Arial"/>
                <a:ea typeface="Arial"/>
                <a:cs typeface="Arial"/>
              </a:defRPr>
            </a:pPr>
            <a:r>
              <a:rPr sz="3900" b="1" i="0">
                <a:solidFill>
                  <a:srgbClr val="500000"/>
                </a:solidFill>
                <a:latin typeface="Arial"/>
                <a:ea typeface="Arial"/>
                <a:cs typeface="Arial"/>
              </a:rPr>
              <a:t>$123.8k</a:t>
            </a:r>
          </a:p>
        </p:txBody>
      </p:sp>
      <p:sp>
        <p:nvSpPr>
          <p:cNvPr id="54" name="">
            <a:extLst xmlns:a="http://schemas.openxmlformats.org/drawingml/2006/main">
              <a:ext uri="{FF2B5EF4-FFF2-40B4-BE49-F238E27FC236}">
                <a16:creationId xmlns:a16="http://schemas.microsoft.com/office/drawing/2014/main" id="{91692910-C768-49AE-A69C-E6683C1BAB2E}"/>
              </a:ext>
            </a:extLst>
          </p:cNvPr>
          <p:cNvSpPr>
            <a:spLocks xmlns:a="http://schemas.openxmlformats.org/drawingml/2006/main" noGrp="1"/>
          </p:cNvSpPr>
          <p:nvPr/>
        </p:nvSpPr>
        <p:spPr>
          <a:xfrm xmlns:a="http://schemas.openxmlformats.org/drawingml/2006/main">
            <a:off x="12763500" y="63341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202020"/>
                </a:solidFill>
                <a:latin typeface="Arial"/>
                <a:ea typeface="Arial"/>
                <a:cs typeface="Arial"/>
              </a:defRPr>
            </a:pPr>
            <a:r>
              <a:rPr sz="1800" b="1" i="0">
                <a:solidFill>
                  <a:srgbClr val="202020"/>
                </a:solidFill>
                <a:latin typeface="Arial"/>
                <a:ea typeface="Arial"/>
                <a:cs typeface="Arial"/>
              </a:rPr>
              <a:t>+206.7% vs no loops</a:t>
            </a:r>
          </a:p>
        </p:txBody>
      </p:sp>
      <p:sp>
        <p:nvSpPr>
          <p:cNvPr id="55" name="">
            <a:extLst xmlns:a="http://schemas.openxmlformats.org/drawingml/2006/main">
              <a:ext uri="{FF2B5EF4-FFF2-40B4-BE49-F238E27FC236}">
                <a16:creationId xmlns:a16="http://schemas.microsoft.com/office/drawing/2014/main" id="{FBC7CAFC-607B-460F-B3BC-0D2C9847A6E4}"/>
              </a:ext>
            </a:extLst>
          </p:cNvPr>
          <p:cNvSpPr>
            <a:spLocks xmlns:a="http://schemas.openxmlformats.org/drawingml/2006/main" noGrp="1"/>
          </p:cNvSpPr>
          <p:nvPr/>
        </p:nvSpPr>
        <p:spPr>
          <a:xfrm xmlns:a="http://schemas.openxmlformats.org/drawingml/2006/main">
            <a:off x="18526125" y="4991100"/>
            <a:ext cx="5572125" cy="2038350"/>
          </a:xfrm>
          <a:prstGeom xmlns:a="http://schemas.openxmlformats.org/drawingml/2006/main" prst="roundRect">
            <a:avLst>
              <a:gd name="adj" fmla="val 8411"/>
            </a:avLst>
          </a:prstGeom>
          <a:solidFill xmlns:a="http://schemas.openxmlformats.org/drawingml/2006/main">
            <a:srgbClr val="FFFFFF"/>
          </a:solidFill>
          <a:ln xmlns:a="http://schemas.openxmlformats.org/drawingml/2006/main" w="11430">
            <a:solidFill>
              <a:srgbClr val="D7D0C7"/>
            </a:solidFill>
            <a:prstDash val="solid"/>
          </a:ln>
        </p:spPr>
      </p:sp>
      <p:sp>
        <p:nvSpPr>
          <p:cNvPr id="56" name="">
            <a:extLst xmlns:a="http://schemas.openxmlformats.org/drawingml/2006/main">
              <a:ext uri="{FF2B5EF4-FFF2-40B4-BE49-F238E27FC236}">
                <a16:creationId xmlns:a16="http://schemas.microsoft.com/office/drawing/2014/main" id="{90A4B8FA-C8B5-449C-88E7-0E7D7E53EC97}"/>
              </a:ext>
            </a:extLst>
          </p:cNvPr>
          <p:cNvSpPr>
            <a:spLocks xmlns:a="http://schemas.openxmlformats.org/drawingml/2006/main" noGrp="1"/>
          </p:cNvSpPr>
          <p:nvPr/>
        </p:nvSpPr>
        <p:spPr>
          <a:xfrm xmlns:a="http://schemas.openxmlformats.org/drawingml/2006/main">
            <a:off x="18526125" y="4991100"/>
            <a:ext cx="5572125" cy="114300"/>
          </a:xfrm>
          <a:prstGeom xmlns:a="http://schemas.openxmlformats.org/drawingml/2006/main" prst="rect">
            <a:avLst/>
          </a:prstGeom>
          <a:solidFill xmlns:a="http://schemas.openxmlformats.org/drawingml/2006/main">
            <a:srgbClr val="32735F"/>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9A9B26FD-0A25-4346-96FD-04B94E858873}"/>
              </a:ext>
            </a:extLst>
          </p:cNvPr>
          <p:cNvSpPr>
            <a:spLocks xmlns:a="http://schemas.openxmlformats.org/drawingml/2006/main" noGrp="1"/>
          </p:cNvSpPr>
          <p:nvPr/>
        </p:nvSpPr>
        <p:spPr>
          <a:xfrm xmlns:a="http://schemas.openxmlformats.org/drawingml/2006/main">
            <a:off x="18754725" y="5257800"/>
            <a:ext cx="5114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5F5B56"/>
                </a:solidFill>
                <a:latin typeface="Arial"/>
                <a:ea typeface="Arial"/>
                <a:cs typeface="Arial"/>
              </a:defRPr>
            </a:pPr>
            <a:r>
              <a:rPr sz="1800" b="1" i="0">
                <a:solidFill>
                  <a:srgbClr val="5F5B56"/>
                </a:solidFill>
                <a:latin typeface="Arial"/>
                <a:ea typeface="Arial"/>
                <a:cs typeface="Arial"/>
              </a:rPr>
              <a:t>NET GHG</a:t>
            </a:r>
          </a:p>
        </p:txBody>
      </p:sp>
      <p:sp>
        <p:nvSpPr>
          <p:cNvPr id="58" name="">
            <a:extLst xmlns:a="http://schemas.openxmlformats.org/drawingml/2006/main">
              <a:ext uri="{FF2B5EF4-FFF2-40B4-BE49-F238E27FC236}">
                <a16:creationId xmlns:a16="http://schemas.microsoft.com/office/drawing/2014/main" id="{9A89F887-0BAC-421D-98EC-A04F8A27C545}"/>
              </a:ext>
            </a:extLst>
          </p:cNvPr>
          <p:cNvSpPr>
            <a:spLocks xmlns:a="http://schemas.openxmlformats.org/drawingml/2006/main" noGrp="1"/>
          </p:cNvSpPr>
          <p:nvPr/>
        </p:nvSpPr>
        <p:spPr>
          <a:xfrm xmlns:a="http://schemas.openxmlformats.org/drawingml/2006/main">
            <a:off x="18716625" y="5600700"/>
            <a:ext cx="519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4000"/>
              </a:lnSpc>
              <a:buNone/>
              <a:defRPr sz="3900" b="1" i="0">
                <a:solidFill>
                  <a:srgbClr val="32735F"/>
                </a:solidFill>
                <a:latin typeface="Arial"/>
                <a:ea typeface="Arial"/>
                <a:cs typeface="Arial"/>
              </a:defRPr>
            </a:pPr>
            <a:r>
              <a:rPr sz="3900" b="1" i="0">
                <a:solidFill>
                  <a:srgbClr val="32735F"/>
                </a:solidFill>
                <a:latin typeface="Arial"/>
                <a:ea typeface="Arial"/>
                <a:cs typeface="Arial"/>
              </a:rPr>
              <a:t>121.2 t</a:t>
            </a:r>
          </a:p>
        </p:txBody>
      </p:sp>
      <p:sp>
        <p:nvSpPr>
          <p:cNvPr id="59" name="">
            <a:extLst xmlns:a="http://schemas.openxmlformats.org/drawingml/2006/main">
              <a:ext uri="{FF2B5EF4-FFF2-40B4-BE49-F238E27FC236}">
                <a16:creationId xmlns:a16="http://schemas.microsoft.com/office/drawing/2014/main" id="{32867183-42C3-40F8-9C26-D20299CC1CE0}"/>
              </a:ext>
            </a:extLst>
          </p:cNvPr>
          <p:cNvSpPr>
            <a:spLocks xmlns:a="http://schemas.openxmlformats.org/drawingml/2006/main" noGrp="1"/>
          </p:cNvSpPr>
          <p:nvPr/>
        </p:nvSpPr>
        <p:spPr>
          <a:xfrm xmlns:a="http://schemas.openxmlformats.org/drawingml/2006/main">
            <a:off x="18716625" y="63341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202020"/>
                </a:solidFill>
                <a:latin typeface="Arial"/>
                <a:ea typeface="Arial"/>
                <a:cs typeface="Arial"/>
              </a:defRPr>
            </a:pPr>
            <a:r>
              <a:rPr sz="1800" b="1" i="0">
                <a:solidFill>
                  <a:srgbClr val="202020"/>
                </a:solidFill>
                <a:latin typeface="Arial"/>
                <a:ea typeface="Arial"/>
                <a:cs typeface="Arial"/>
              </a:rPr>
              <a:t>−10.3% vs no loops</a:t>
            </a:r>
          </a:p>
        </p:txBody>
      </p:sp>
      <p:sp>
        <p:nvSpPr>
          <p:cNvPr id="60" name="">
            <a:extLst xmlns:a="http://schemas.openxmlformats.org/drawingml/2006/main">
              <a:ext uri="{FF2B5EF4-FFF2-40B4-BE49-F238E27FC236}">
                <a16:creationId xmlns:a16="http://schemas.microsoft.com/office/drawing/2014/main" id="{5DBF991E-1CEE-4FDF-94D1-291948939F29}"/>
              </a:ext>
            </a:extLst>
          </p:cNvPr>
          <p:cNvSpPr>
            <a:spLocks xmlns:a="http://schemas.openxmlformats.org/drawingml/2006/main" noGrp="1"/>
          </p:cNvSpPr>
          <p:nvPr/>
        </p:nvSpPr>
        <p:spPr>
          <a:xfrm xmlns:a="http://schemas.openxmlformats.org/drawingml/2006/main">
            <a:off x="24479250" y="4991100"/>
            <a:ext cx="5572125" cy="2038350"/>
          </a:xfrm>
          <a:prstGeom xmlns:a="http://schemas.openxmlformats.org/drawingml/2006/main" prst="roundRect">
            <a:avLst>
              <a:gd name="adj" fmla="val 8411"/>
            </a:avLst>
          </a:prstGeom>
          <a:solidFill xmlns:a="http://schemas.openxmlformats.org/drawingml/2006/main">
            <a:srgbClr val="FFFFFF"/>
          </a:solidFill>
          <a:ln xmlns:a="http://schemas.openxmlformats.org/drawingml/2006/main" w="11430">
            <a:solidFill>
              <a:srgbClr val="D7D0C7"/>
            </a:solidFill>
            <a:prstDash val="solid"/>
          </a:ln>
        </p:spPr>
      </p:sp>
      <p:sp>
        <p:nvSpPr>
          <p:cNvPr id="61" name="">
            <a:extLst xmlns:a="http://schemas.openxmlformats.org/drawingml/2006/main">
              <a:ext uri="{FF2B5EF4-FFF2-40B4-BE49-F238E27FC236}">
                <a16:creationId xmlns:a16="http://schemas.microsoft.com/office/drawing/2014/main" id="{C2272E2C-7FA0-4F8C-B99A-E9EA18FD0FD1}"/>
              </a:ext>
            </a:extLst>
          </p:cNvPr>
          <p:cNvSpPr>
            <a:spLocks xmlns:a="http://schemas.openxmlformats.org/drawingml/2006/main" noGrp="1"/>
          </p:cNvSpPr>
          <p:nvPr/>
        </p:nvSpPr>
        <p:spPr>
          <a:xfrm xmlns:a="http://schemas.openxmlformats.org/drawingml/2006/main">
            <a:off x="24479250" y="4991100"/>
            <a:ext cx="5572125" cy="114300"/>
          </a:xfrm>
          <a:prstGeom xmlns:a="http://schemas.openxmlformats.org/drawingml/2006/main" prst="rect">
            <a:avLst/>
          </a:prstGeom>
          <a:solidFill xmlns:a="http://schemas.openxmlformats.org/drawingml/2006/main">
            <a:srgbClr val="2C7180"/>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D6C476C6-E518-4293-8249-224D2E90E012}"/>
              </a:ext>
            </a:extLst>
          </p:cNvPr>
          <p:cNvSpPr>
            <a:spLocks xmlns:a="http://schemas.openxmlformats.org/drawingml/2006/main" noGrp="1"/>
          </p:cNvSpPr>
          <p:nvPr/>
        </p:nvSpPr>
        <p:spPr>
          <a:xfrm xmlns:a="http://schemas.openxmlformats.org/drawingml/2006/main">
            <a:off x="24707850" y="5257800"/>
            <a:ext cx="5114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5F5B56"/>
                </a:solidFill>
                <a:latin typeface="Arial"/>
                <a:ea typeface="Arial"/>
                <a:cs typeface="Arial"/>
              </a:defRPr>
            </a:pPr>
            <a:r>
              <a:rPr sz="1800" b="1" i="0">
                <a:solidFill>
                  <a:srgbClr val="5F5B56"/>
                </a:solidFill>
                <a:latin typeface="Arial"/>
                <a:ea typeface="Arial"/>
                <a:cs typeface="Arial"/>
              </a:rPr>
              <a:t>FRESHWATER</a:t>
            </a:r>
          </a:p>
        </p:txBody>
      </p:sp>
      <p:sp>
        <p:nvSpPr>
          <p:cNvPr id="63" name="">
            <a:extLst xmlns:a="http://schemas.openxmlformats.org/drawingml/2006/main">
              <a:ext uri="{FF2B5EF4-FFF2-40B4-BE49-F238E27FC236}">
                <a16:creationId xmlns:a16="http://schemas.microsoft.com/office/drawing/2014/main" id="{2F68CD6C-781A-41EE-8F0B-B42AFAAFF8CB}"/>
              </a:ext>
            </a:extLst>
          </p:cNvPr>
          <p:cNvSpPr>
            <a:spLocks xmlns:a="http://schemas.openxmlformats.org/drawingml/2006/main" noGrp="1"/>
          </p:cNvSpPr>
          <p:nvPr/>
        </p:nvSpPr>
        <p:spPr>
          <a:xfrm xmlns:a="http://schemas.openxmlformats.org/drawingml/2006/main">
            <a:off x="24669750" y="5600700"/>
            <a:ext cx="519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4000"/>
              </a:lnSpc>
              <a:buNone/>
              <a:defRPr sz="3900" b="1" i="0">
                <a:solidFill>
                  <a:srgbClr val="2C7180"/>
                </a:solidFill>
                <a:latin typeface="Arial"/>
                <a:ea typeface="Arial"/>
                <a:cs typeface="Arial"/>
              </a:defRPr>
            </a:pPr>
            <a:r>
              <a:rPr sz="3900" b="1" i="0">
                <a:solidFill>
                  <a:srgbClr val="2C7180"/>
                </a:solidFill>
                <a:latin typeface="Arial"/>
                <a:ea typeface="Arial"/>
                <a:cs typeface="Arial"/>
              </a:rPr>
              <a:t>38.75 ML</a:t>
            </a:r>
          </a:p>
        </p:txBody>
      </p:sp>
      <p:sp>
        <p:nvSpPr>
          <p:cNvPr id="64" name="">
            <a:extLst xmlns:a="http://schemas.openxmlformats.org/drawingml/2006/main">
              <a:ext uri="{FF2B5EF4-FFF2-40B4-BE49-F238E27FC236}">
                <a16:creationId xmlns:a16="http://schemas.microsoft.com/office/drawing/2014/main" id="{BA295548-CE8D-4123-ACD3-87A215557546}"/>
              </a:ext>
            </a:extLst>
          </p:cNvPr>
          <p:cNvSpPr>
            <a:spLocks xmlns:a="http://schemas.openxmlformats.org/drawingml/2006/main" noGrp="1"/>
          </p:cNvSpPr>
          <p:nvPr/>
        </p:nvSpPr>
        <p:spPr>
          <a:xfrm xmlns:a="http://schemas.openxmlformats.org/drawingml/2006/main">
            <a:off x="24669750" y="63341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202020"/>
                </a:solidFill>
                <a:latin typeface="Arial"/>
                <a:ea typeface="Arial"/>
                <a:cs typeface="Arial"/>
              </a:defRPr>
            </a:pPr>
            <a:r>
              <a:rPr sz="1800" b="1" i="0">
                <a:solidFill>
                  <a:srgbClr val="202020"/>
                </a:solidFill>
                <a:latin typeface="Arial"/>
                <a:ea typeface="Arial"/>
                <a:cs typeface="Arial"/>
              </a:rPr>
              <a:t>−159,417 L · −0.41%</a:t>
            </a:r>
          </a:p>
        </p:txBody>
      </p:sp>
      <p:sp>
        <p:nvSpPr>
          <p:cNvPr id="65" name="">
            <a:extLst xmlns:a="http://schemas.openxmlformats.org/drawingml/2006/main">
              <a:ext uri="{FF2B5EF4-FFF2-40B4-BE49-F238E27FC236}">
                <a16:creationId xmlns:a16="http://schemas.microsoft.com/office/drawing/2014/main" id="{8032B6D1-8CBA-4421-B0AD-79783CCAA90F}"/>
              </a:ext>
            </a:extLst>
          </p:cNvPr>
          <p:cNvSpPr>
            <a:spLocks xmlns:a="http://schemas.openxmlformats.org/drawingml/2006/main" noGrp="1"/>
          </p:cNvSpPr>
          <p:nvPr/>
        </p:nvSpPr>
        <p:spPr>
          <a:xfrm xmlns:a="http://schemas.openxmlformats.org/drawingml/2006/main">
            <a:off x="30432375" y="4991100"/>
            <a:ext cx="5572125" cy="2038350"/>
          </a:xfrm>
          <a:prstGeom xmlns:a="http://schemas.openxmlformats.org/drawingml/2006/main" prst="roundRect">
            <a:avLst>
              <a:gd name="adj" fmla="val 8411"/>
            </a:avLst>
          </a:prstGeom>
          <a:solidFill xmlns:a="http://schemas.openxmlformats.org/drawingml/2006/main">
            <a:srgbClr val="FFFFFF"/>
          </a:solidFill>
          <a:ln xmlns:a="http://schemas.openxmlformats.org/drawingml/2006/main" w="11430">
            <a:solidFill>
              <a:srgbClr val="D7D0C7"/>
            </a:solidFill>
            <a:prstDash val="solid"/>
          </a:ln>
        </p:spPr>
      </p:sp>
      <p:sp>
        <p:nvSpPr>
          <p:cNvPr id="66" name="">
            <a:extLst xmlns:a="http://schemas.openxmlformats.org/drawingml/2006/main">
              <a:ext uri="{FF2B5EF4-FFF2-40B4-BE49-F238E27FC236}">
                <a16:creationId xmlns:a16="http://schemas.microsoft.com/office/drawing/2014/main" id="{4FC929DD-6011-4041-9935-8764562AB78D}"/>
              </a:ext>
            </a:extLst>
          </p:cNvPr>
          <p:cNvSpPr>
            <a:spLocks xmlns:a="http://schemas.openxmlformats.org/drawingml/2006/main" noGrp="1"/>
          </p:cNvSpPr>
          <p:nvPr/>
        </p:nvSpPr>
        <p:spPr>
          <a:xfrm xmlns:a="http://schemas.openxmlformats.org/drawingml/2006/main">
            <a:off x="30432375" y="4991100"/>
            <a:ext cx="5572125" cy="114300"/>
          </a:xfrm>
          <a:prstGeom xmlns:a="http://schemas.openxmlformats.org/drawingml/2006/main" prst="rect">
            <a:avLst/>
          </a:prstGeom>
          <a:solidFill xmlns:a="http://schemas.openxmlformats.org/drawingml/2006/main">
            <a:srgbClr val="B8872D"/>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E2A50E67-5AC9-4745-87FD-47E027D84B41}"/>
              </a:ext>
            </a:extLst>
          </p:cNvPr>
          <p:cNvSpPr>
            <a:spLocks xmlns:a="http://schemas.openxmlformats.org/drawingml/2006/main" noGrp="1"/>
          </p:cNvSpPr>
          <p:nvPr/>
        </p:nvSpPr>
        <p:spPr>
          <a:xfrm xmlns:a="http://schemas.openxmlformats.org/drawingml/2006/main">
            <a:off x="30660975" y="5257800"/>
            <a:ext cx="5114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5F5B56"/>
                </a:solidFill>
                <a:latin typeface="Arial"/>
                <a:ea typeface="Arial"/>
                <a:cs typeface="Arial"/>
              </a:defRPr>
            </a:pPr>
            <a:r>
              <a:rPr sz="1800" b="1" i="0">
                <a:solidFill>
                  <a:srgbClr val="5F5B56"/>
                </a:solidFill>
                <a:latin typeface="Arial"/>
                <a:ea typeface="Arial"/>
                <a:cs typeface="Arial"/>
              </a:rPr>
              <a:t>CIRCULARITY</a:t>
            </a:r>
          </a:p>
        </p:txBody>
      </p:sp>
      <p:sp>
        <p:nvSpPr>
          <p:cNvPr id="68" name="">
            <a:extLst xmlns:a="http://schemas.openxmlformats.org/drawingml/2006/main">
              <a:ext uri="{FF2B5EF4-FFF2-40B4-BE49-F238E27FC236}">
                <a16:creationId xmlns:a16="http://schemas.microsoft.com/office/drawing/2014/main" id="{75D553C6-0E86-45F3-85DE-9F63FF2BFF77}"/>
              </a:ext>
            </a:extLst>
          </p:cNvPr>
          <p:cNvSpPr>
            <a:spLocks xmlns:a="http://schemas.openxmlformats.org/drawingml/2006/main" noGrp="1"/>
          </p:cNvSpPr>
          <p:nvPr/>
        </p:nvSpPr>
        <p:spPr>
          <a:xfrm xmlns:a="http://schemas.openxmlformats.org/drawingml/2006/main">
            <a:off x="30622875" y="5600700"/>
            <a:ext cx="5191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lnSpc>
                <a:spcPct val="104000"/>
              </a:lnSpc>
              <a:buNone/>
              <a:defRPr sz="3900" b="1" i="0">
                <a:solidFill>
                  <a:srgbClr val="B8872D"/>
                </a:solidFill>
                <a:latin typeface="Arial"/>
                <a:ea typeface="Arial"/>
                <a:cs typeface="Arial"/>
              </a:defRPr>
            </a:pPr>
            <a:r>
              <a:rPr sz="3900" b="1" i="0">
                <a:solidFill>
                  <a:srgbClr val="B8872D"/>
                </a:solidFill>
                <a:latin typeface="Arial"/>
                <a:ea typeface="Arial"/>
                <a:cs typeface="Arial"/>
              </a:rPr>
              <a:t>0.71</a:t>
            </a:r>
          </a:p>
        </p:txBody>
      </p:sp>
      <p:sp>
        <p:nvSpPr>
          <p:cNvPr id="69" name="">
            <a:extLst xmlns:a="http://schemas.openxmlformats.org/drawingml/2006/main">
              <a:ext uri="{FF2B5EF4-FFF2-40B4-BE49-F238E27FC236}">
                <a16:creationId xmlns:a16="http://schemas.microsoft.com/office/drawing/2014/main" id="{E7BBCA6C-6711-46FD-9730-4F15753C91FC}"/>
              </a:ext>
            </a:extLst>
          </p:cNvPr>
          <p:cNvSpPr>
            <a:spLocks xmlns:a="http://schemas.openxmlformats.org/drawingml/2006/main" noGrp="1"/>
          </p:cNvSpPr>
          <p:nvPr/>
        </p:nvSpPr>
        <p:spPr>
          <a:xfrm xmlns:a="http://schemas.openxmlformats.org/drawingml/2006/main">
            <a:off x="30622875" y="63341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202020"/>
                </a:solidFill>
                <a:latin typeface="Arial"/>
                <a:ea typeface="Arial"/>
                <a:cs typeface="Arial"/>
              </a:defRPr>
            </a:pPr>
            <a:r>
              <a:rPr sz="1800" b="1" i="0">
                <a:solidFill>
                  <a:srgbClr val="202020"/>
                </a:solidFill>
                <a:latin typeface="Arial"/>
                <a:ea typeface="Arial"/>
                <a:cs typeface="Arial"/>
              </a:rPr>
              <a:t>+0.50 on 0–1 scale</a:t>
            </a:r>
          </a:p>
        </p:txBody>
      </p:sp>
      <p:sp>
        <p:nvSpPr>
          <p:cNvPr id="70" name="">
            <a:extLst xmlns:a="http://schemas.openxmlformats.org/drawingml/2006/main">
              <a:ext uri="{FF2B5EF4-FFF2-40B4-BE49-F238E27FC236}">
                <a16:creationId xmlns:a16="http://schemas.microsoft.com/office/drawing/2014/main" id="{78414618-722D-4AD8-9BDA-D90F261DACE2}"/>
              </a:ext>
            </a:extLst>
          </p:cNvPr>
          <p:cNvSpPr>
            <a:spLocks xmlns:a="http://schemas.openxmlformats.org/drawingml/2006/main" noGrp="1"/>
          </p:cNvSpPr>
          <p:nvPr/>
        </p:nvSpPr>
        <p:spPr>
          <a:xfrm xmlns:a="http://schemas.openxmlformats.org/drawingml/2006/main">
            <a:off x="12573000" y="7086600"/>
            <a:ext cx="2362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5F5B56"/>
                </a:solidFill>
                <a:latin typeface="Arial"/>
                <a:ea typeface="Arial"/>
                <a:cs typeface="Arial"/>
              </a:defRPr>
            </a:pPr>
            <a:r>
              <a:rPr sz="1800" b="1" i="0">
                <a:solidFill>
                  <a:srgbClr val="5F5B56"/>
                </a:solidFill>
                <a:latin typeface="Arial"/>
                <a:ea typeface="Arial"/>
                <a:cs typeface="Arial"/>
              </a:rPr>
              <a:t>ALL FOUR LOOPS · SEED 42 · MILK OUTPUT UNCHANGED AT 719,779 L/YEAR</a:t>
            </a:r>
          </a:p>
        </p:txBody>
      </p:sp>
      <p:sp>
        <p:nvSpPr>
          <p:cNvPr id="71" name="">
            <a:extLst xmlns:a="http://schemas.openxmlformats.org/drawingml/2006/main">
              <a:ext uri="{FF2B5EF4-FFF2-40B4-BE49-F238E27FC236}">
                <a16:creationId xmlns:a16="http://schemas.microsoft.com/office/drawing/2014/main" id="{FC8C4A58-6199-4282-9687-DA868ECE6B5D}"/>
              </a:ext>
            </a:extLst>
          </p:cNvPr>
          <p:cNvSpPr>
            <a:spLocks xmlns:a="http://schemas.openxmlformats.org/drawingml/2006/main" noGrp="1"/>
          </p:cNvSpPr>
          <p:nvPr/>
        </p:nvSpPr>
        <p:spPr>
          <a:xfrm xmlns:a="http://schemas.openxmlformats.org/drawingml/2006/main">
            <a:off x="12573000" y="7524750"/>
            <a:ext cx="23622000" cy="16668750"/>
          </a:xfrm>
          <a:prstGeom xmlns:a="http://schemas.openxmlformats.org/drawingml/2006/main" prst="roundRect">
            <a:avLst>
              <a:gd name="adj" fmla="val 1029"/>
            </a:avLst>
          </a:prstGeom>
          <a:solidFill xmlns:a="http://schemas.openxmlformats.org/drawingml/2006/main">
            <a:srgbClr val="FFFFFF"/>
          </a:solidFill>
          <a:ln xmlns:a="http://schemas.openxmlformats.org/drawingml/2006/main" w="13335">
            <a:solidFill>
              <a:srgbClr val="D7D0C7"/>
            </a:solidFill>
            <a:prstDash val="solid"/>
          </a:ln>
        </p:spPr>
      </p:sp>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cd5fd9d00a74483d"/>
          <a:stretch xmlns:a="http://schemas.openxmlformats.org/drawingml/2006/main"/>
        </p:blipFill>
        <p:spPr>
          <a:xfrm xmlns:a="http://schemas.openxmlformats.org/drawingml/2006/main">
            <a:off x="13079235" y="7734300"/>
            <a:ext cx="22609530" cy="1626870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E5BBF43C-A0E3-448D-BA24-634741CF8F5A}"/>
              </a:ext>
            </a:extLst>
          </p:cNvPr>
          <p:cNvSpPr>
            <a:spLocks xmlns:a="http://schemas.openxmlformats.org/drawingml/2006/main" noGrp="1"/>
          </p:cNvSpPr>
          <p:nvPr/>
        </p:nvSpPr>
        <p:spPr>
          <a:xfrm xmlns:a="http://schemas.openxmlformats.org/drawingml/2006/main">
            <a:off x="12573000" y="24422100"/>
            <a:ext cx="23622000" cy="11296650"/>
          </a:xfrm>
          <a:prstGeom xmlns:a="http://schemas.openxmlformats.org/drawingml/2006/main" prst="roundRect">
            <a:avLst>
              <a:gd name="adj" fmla="val 1518"/>
            </a:avLst>
          </a:prstGeom>
          <a:solidFill xmlns:a="http://schemas.openxmlformats.org/drawingml/2006/main">
            <a:srgbClr val="FFFFFF"/>
          </a:solidFill>
          <a:ln xmlns:a="http://schemas.openxmlformats.org/drawingml/2006/main" w="13335">
            <a:solidFill>
              <a:srgbClr val="D7D0C7"/>
            </a:solidFill>
            <a:prstDash val="solid"/>
          </a:ln>
        </p:spPr>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708b3265c3474b21"/>
          <a:stretch xmlns:a="http://schemas.openxmlformats.org/drawingml/2006/main"/>
        </p:blipFill>
        <p:spPr>
          <a:xfrm xmlns:a="http://schemas.openxmlformats.org/drawingml/2006/main">
            <a:off x="12820650" y="24900268"/>
            <a:ext cx="23126700" cy="10321264"/>
          </a:xfrm>
          <a:prstGeom xmlns:a="http://schemas.openxmlformats.org/drawingml/2006/main" prst="rect">
            <a:avLst/>
          </a:prstGeom>
        </p:spPr>
      </p:pic>
      <p:sp>
        <p:nvSpPr>
          <p:cNvPr id="75" name="">
            <a:extLst xmlns:a="http://schemas.openxmlformats.org/drawingml/2006/main">
              <a:ext uri="{FF2B5EF4-FFF2-40B4-BE49-F238E27FC236}">
                <a16:creationId xmlns:a16="http://schemas.microsoft.com/office/drawing/2014/main" id="{4BCB8B24-7E75-4B0B-B811-25F100DA3FE1}"/>
              </a:ext>
            </a:extLst>
          </p:cNvPr>
          <p:cNvSpPr>
            <a:spLocks xmlns:a="http://schemas.openxmlformats.org/drawingml/2006/main" noGrp="1"/>
          </p:cNvSpPr>
          <p:nvPr/>
        </p:nvSpPr>
        <p:spPr>
          <a:xfrm xmlns:a="http://schemas.openxmlformats.org/drawingml/2006/main">
            <a:off x="36576000" y="4991100"/>
            <a:ext cx="11658600" cy="8239125"/>
          </a:xfrm>
          <a:prstGeom xmlns:a="http://schemas.openxmlformats.org/drawingml/2006/main" prst="roundRect">
            <a:avLst>
              <a:gd name="adj" fmla="val 2081"/>
            </a:avLst>
          </a:prstGeom>
          <a:solidFill xmlns:a="http://schemas.openxmlformats.org/drawingml/2006/main">
            <a:srgbClr val="FFFFFF"/>
          </a:solidFill>
          <a:ln xmlns:a="http://schemas.openxmlformats.org/drawingml/2006/main" w="14288">
            <a:solidFill>
              <a:srgbClr val="D7D0C7"/>
            </a:solidFill>
            <a:prstDash val="solid"/>
          </a:ln>
        </p:spPr>
      </p:sp>
      <p:sp>
        <p:nvSpPr>
          <p:cNvPr id="76" name="">
            <a:extLst xmlns:a="http://schemas.openxmlformats.org/drawingml/2006/main">
              <a:ext uri="{FF2B5EF4-FFF2-40B4-BE49-F238E27FC236}">
                <a16:creationId xmlns:a16="http://schemas.microsoft.com/office/drawing/2014/main" id="{7FAD557B-3905-4BF3-88E2-867051398B12}"/>
              </a:ext>
            </a:extLst>
          </p:cNvPr>
          <p:cNvSpPr>
            <a:spLocks xmlns:a="http://schemas.openxmlformats.org/drawingml/2006/main" noGrp="1"/>
          </p:cNvSpPr>
          <p:nvPr/>
        </p:nvSpPr>
        <p:spPr>
          <a:xfrm xmlns:a="http://schemas.openxmlformats.org/drawingml/2006/main">
            <a:off x="36576000" y="4991100"/>
            <a:ext cx="133350" cy="8239125"/>
          </a:xfrm>
          <a:prstGeom xmlns:a="http://schemas.openxmlformats.org/drawingml/2006/main" prst="rect">
            <a:avLst/>
          </a:prstGeom>
          <a:solidFill xmlns:a="http://schemas.openxmlformats.org/drawingml/2006/main">
            <a:srgbClr val="500000"/>
          </a:solidFill>
          <a:ln xmlns:a="http://schemas.openxmlformats.org/drawingml/2006/main" w="0">
            <a:noFill/>
          </a:ln>
        </p:spPr>
      </p:sp>
      <p:sp>
        <p:nvSpPr>
          <p:cNvPr id="77" name="What drives the result-heading">
            <a:extLst xmlns:a="http://schemas.openxmlformats.org/drawingml/2006/main">
              <a:ext uri="{FF2B5EF4-FFF2-40B4-BE49-F238E27FC236}">
                <a16:creationId xmlns:a16="http://schemas.microsoft.com/office/drawing/2014/main" id="{DAB54372-7F84-4AC5-A57E-BBDC298B5AD1}"/>
              </a:ext>
            </a:extLst>
          </p:cNvPr>
          <p:cNvSpPr>
            <a:spLocks xmlns:a="http://schemas.openxmlformats.org/drawingml/2006/main" noGrp="1"/>
          </p:cNvSpPr>
          <p:nvPr/>
        </p:nvSpPr>
        <p:spPr>
          <a:xfrm xmlns:a="http://schemas.openxmlformats.org/drawingml/2006/main">
            <a:off x="36899850" y="521970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What drives the result</a:t>
            </a:r>
          </a:p>
        </p:txBody>
      </p:sp>
      <p:sp>
        <p:nvSpPr>
          <p:cNvPr id="78" name="">
            <a:extLst xmlns:a="http://schemas.openxmlformats.org/drawingml/2006/main">
              <a:ext uri="{FF2B5EF4-FFF2-40B4-BE49-F238E27FC236}">
                <a16:creationId xmlns:a16="http://schemas.microsoft.com/office/drawing/2014/main" id="{6D03206F-3528-4FEF-BD38-BCA705ED6370}"/>
              </a:ext>
            </a:extLst>
          </p:cNvPr>
          <p:cNvSpPr>
            <a:spLocks xmlns:a="http://schemas.openxmlformats.org/drawingml/2006/main" noGrp="1"/>
          </p:cNvSpPr>
          <p:nvPr/>
        </p:nvSpPr>
        <p:spPr>
          <a:xfrm xmlns:a="http://schemas.openxmlformats.org/drawingml/2006/main">
            <a:off x="36899850" y="5867400"/>
            <a:ext cx="110109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79" name="">
            <a:extLst xmlns:a="http://schemas.openxmlformats.org/drawingml/2006/main">
              <a:ext uri="{FF2B5EF4-FFF2-40B4-BE49-F238E27FC236}">
                <a16:creationId xmlns:a16="http://schemas.microsoft.com/office/drawing/2014/main" id="{56A558E1-DC32-411D-BA83-DB2BE31EF382}"/>
              </a:ext>
            </a:extLst>
          </p:cNvPr>
          <p:cNvSpPr>
            <a:spLocks xmlns:a="http://schemas.openxmlformats.org/drawingml/2006/main" noGrp="1"/>
          </p:cNvSpPr>
          <p:nvPr/>
        </p:nvSpPr>
        <p:spPr>
          <a:xfrm xmlns:a="http://schemas.openxmlformats.org/drawingml/2006/main">
            <a:off x="36918900" y="6057900"/>
            <a:ext cx="10972800" cy="694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5000"/>
              </a:lnSpc>
              <a:buNone/>
              <a:defRPr sz="2400" b="0" i="0">
                <a:solidFill>
                  <a:srgbClr val="202020"/>
                </a:solidFill>
                <a:latin typeface="Arial"/>
                <a:ea typeface="Arial"/>
                <a:cs typeface="Arial"/>
              </a:defRPr>
            </a:pPr>
            <a:r>
              <a:rPr sz="2400" b="0" i="0">
                <a:solidFill>
                  <a:srgbClr val="202020"/>
                </a:solidFill>
                <a:latin typeface="Arial"/>
                <a:ea typeface="Arial"/>
                <a:cs typeface="Arial"/>
              </a:rPr>
              <a:t>• L4 processing/product loop: +$78,868 versus no loops; dominant profit separation under assumed product-mix prices.</a:t>
            </a:r>
          </a:p>
          <a:p xmlns:a="http://schemas.openxmlformats.org/drawingml/2006/main">
            <a:pPr algn="l">
              <a:lnSpc>
                <a:spcPct val="105000"/>
              </a:lnSpc>
              <a:buNone/>
              <a:defRPr sz="2400" b="0" i="0">
                <a:solidFill>
                  <a:srgbClr val="202020"/>
                </a:solidFill>
                <a:latin typeface="Arial"/>
                <a:ea typeface="Arial"/>
                <a:cs typeface="Arial"/>
              </a:defRPr>
            </a:pPr>
            <a:r>
              <a:rPr sz="2400" b="0" i="0">
                <a:solidFill>
                  <a:srgbClr val="202020"/>
                </a:solidFill>
                <a:latin typeface="Arial"/>
                <a:ea typeface="Arial"/>
                <a:cs typeface="Arial"/>
              </a:rPr>
              <a:t>• L3 energy loop: +$4,380 and −13.87 t CO2e; entire modeled GHG reduction.</a:t>
            </a:r>
          </a:p>
          <a:p xmlns:a="http://schemas.openxmlformats.org/drawingml/2006/main">
            <a:pPr algn="l">
              <a:lnSpc>
                <a:spcPct val="105000"/>
              </a:lnSpc>
              <a:buNone/>
              <a:defRPr sz="2400" b="0" i="0">
                <a:solidFill>
                  <a:srgbClr val="202020"/>
                </a:solidFill>
                <a:latin typeface="Arial"/>
                <a:ea typeface="Arial"/>
                <a:cs typeface="Arial"/>
              </a:defRPr>
            </a:pPr>
            <a:r>
              <a:rPr sz="2400" b="0" i="0">
                <a:solidFill>
                  <a:srgbClr val="202020"/>
                </a:solidFill>
                <a:latin typeface="Arial"/>
                <a:ea typeface="Arial"/>
                <a:cs typeface="Arial"/>
              </a:rPr>
              <a:t>• L2 water loop: 159,417 L less freshwater and about $159 higher operating profit.</a:t>
            </a:r>
          </a:p>
          <a:p xmlns:a="http://schemas.openxmlformats.org/drawingml/2006/main">
            <a:pPr algn="l">
              <a:lnSpc>
                <a:spcPct val="105000"/>
              </a:lnSpc>
              <a:buNone/>
              <a:defRPr sz="2400" b="0" i="0">
                <a:solidFill>
                  <a:srgbClr val="202020"/>
                </a:solidFill>
                <a:latin typeface="Arial"/>
                <a:ea typeface="Arial"/>
                <a:cs typeface="Arial"/>
              </a:defRPr>
            </a:pPr>
            <a:r>
              <a:rPr sz="2400" b="0" i="0">
                <a:solidFill>
                  <a:srgbClr val="202020"/>
                </a:solidFill>
                <a:latin typeface="Arial"/>
                <a:ea typeface="Arial"/>
                <a:cs typeface="Arial"/>
              </a:rPr>
              <a:t>• L1 nutrient loop: 70.9 t feed-offset credit, but no top-line change because farm-grown feed was not binding.</a:t>
            </a:r>
          </a:p>
        </p:txBody>
      </p:sp>
      <p:sp>
        <p:nvSpPr>
          <p:cNvPr id="80" name="">
            <a:extLst xmlns:a="http://schemas.openxmlformats.org/drawingml/2006/main">
              <a:ext uri="{FF2B5EF4-FFF2-40B4-BE49-F238E27FC236}">
                <a16:creationId xmlns:a16="http://schemas.microsoft.com/office/drawing/2014/main" id="{B9E0C176-D603-4372-AAB7-64096ECBAF21}"/>
              </a:ext>
            </a:extLst>
          </p:cNvPr>
          <p:cNvSpPr>
            <a:spLocks xmlns:a="http://schemas.openxmlformats.org/drawingml/2006/main" noGrp="1"/>
          </p:cNvSpPr>
          <p:nvPr/>
        </p:nvSpPr>
        <p:spPr>
          <a:xfrm xmlns:a="http://schemas.openxmlformats.org/drawingml/2006/main">
            <a:off x="36576000" y="13449300"/>
            <a:ext cx="11658600" cy="4953000"/>
          </a:xfrm>
          <a:prstGeom xmlns:a="http://schemas.openxmlformats.org/drawingml/2006/main" prst="roundRect">
            <a:avLst>
              <a:gd name="adj" fmla="val 3462"/>
            </a:avLst>
          </a:prstGeom>
          <a:solidFill xmlns:a="http://schemas.openxmlformats.org/drawingml/2006/main">
            <a:srgbClr val="FFFFFF"/>
          </a:solidFill>
          <a:ln xmlns:a="http://schemas.openxmlformats.org/drawingml/2006/main" w="14288">
            <a:solidFill>
              <a:srgbClr val="D7D0C7"/>
            </a:solidFill>
            <a:prstDash val="solid"/>
          </a:ln>
        </p:spPr>
      </p:sp>
      <p:sp>
        <p:nvSpPr>
          <p:cNvPr id="81" name="">
            <a:extLst xmlns:a="http://schemas.openxmlformats.org/drawingml/2006/main">
              <a:ext uri="{FF2B5EF4-FFF2-40B4-BE49-F238E27FC236}">
                <a16:creationId xmlns:a16="http://schemas.microsoft.com/office/drawing/2014/main" id="{1EF5CE87-0DCD-4378-9FE9-19A363D5356D}"/>
              </a:ext>
            </a:extLst>
          </p:cNvPr>
          <p:cNvSpPr>
            <a:spLocks xmlns:a="http://schemas.openxmlformats.org/drawingml/2006/main" noGrp="1"/>
          </p:cNvSpPr>
          <p:nvPr/>
        </p:nvSpPr>
        <p:spPr>
          <a:xfrm xmlns:a="http://schemas.openxmlformats.org/drawingml/2006/main">
            <a:off x="36576000" y="13449300"/>
            <a:ext cx="133350" cy="4953000"/>
          </a:xfrm>
          <a:prstGeom xmlns:a="http://schemas.openxmlformats.org/drawingml/2006/main" prst="rect">
            <a:avLst/>
          </a:prstGeom>
          <a:solidFill xmlns:a="http://schemas.openxmlformats.org/drawingml/2006/main">
            <a:srgbClr val="32735F"/>
          </a:solidFill>
          <a:ln xmlns:a="http://schemas.openxmlformats.org/drawingml/2006/main" w="0">
            <a:noFill/>
          </a:ln>
        </p:spPr>
      </p:sp>
      <p:sp>
        <p:nvSpPr>
          <p:cNvPr id="82" name="Conclusion-heading">
            <a:extLst xmlns:a="http://schemas.openxmlformats.org/drawingml/2006/main">
              <a:ext uri="{FF2B5EF4-FFF2-40B4-BE49-F238E27FC236}">
                <a16:creationId xmlns:a16="http://schemas.microsoft.com/office/drawing/2014/main" id="{83E80BEF-D40A-4F19-8D2C-C1EC5D0AB021}"/>
              </a:ext>
            </a:extLst>
          </p:cNvPr>
          <p:cNvSpPr>
            <a:spLocks xmlns:a="http://schemas.openxmlformats.org/drawingml/2006/main" noGrp="1"/>
          </p:cNvSpPr>
          <p:nvPr/>
        </p:nvSpPr>
        <p:spPr>
          <a:xfrm xmlns:a="http://schemas.openxmlformats.org/drawingml/2006/main">
            <a:off x="36899850" y="1367790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Conclusion</a:t>
            </a:r>
          </a:p>
        </p:txBody>
      </p:sp>
      <p:sp>
        <p:nvSpPr>
          <p:cNvPr id="83" name="">
            <a:extLst xmlns:a="http://schemas.openxmlformats.org/drawingml/2006/main">
              <a:ext uri="{FF2B5EF4-FFF2-40B4-BE49-F238E27FC236}">
                <a16:creationId xmlns:a16="http://schemas.microsoft.com/office/drawing/2014/main" id="{70594BDC-BEEE-4ED3-AED2-0370335608A8}"/>
              </a:ext>
            </a:extLst>
          </p:cNvPr>
          <p:cNvSpPr>
            <a:spLocks xmlns:a="http://schemas.openxmlformats.org/drawingml/2006/main" noGrp="1"/>
          </p:cNvSpPr>
          <p:nvPr/>
        </p:nvSpPr>
        <p:spPr>
          <a:xfrm xmlns:a="http://schemas.openxmlformats.org/drawingml/2006/main">
            <a:off x="36899850" y="14325600"/>
            <a:ext cx="110109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84" name="">
            <a:extLst xmlns:a="http://schemas.openxmlformats.org/drawingml/2006/main">
              <a:ext uri="{FF2B5EF4-FFF2-40B4-BE49-F238E27FC236}">
                <a16:creationId xmlns:a16="http://schemas.microsoft.com/office/drawing/2014/main" id="{BFFC7D51-523B-46B5-8002-260CB4FD15C7}"/>
              </a:ext>
            </a:extLst>
          </p:cNvPr>
          <p:cNvSpPr>
            <a:spLocks xmlns:a="http://schemas.openxmlformats.org/drawingml/2006/main" noGrp="1"/>
          </p:cNvSpPr>
          <p:nvPr/>
        </p:nvSpPr>
        <p:spPr>
          <a:xfrm xmlns:a="http://schemas.openxmlformats.org/drawingml/2006/main">
            <a:off x="36918900" y="14516100"/>
            <a:ext cx="10972800" cy="3657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5000"/>
              </a:lnSpc>
              <a:buNone/>
              <a:defRPr sz="2400" b="0" i="0">
                <a:solidFill>
                  <a:srgbClr val="202020"/>
                </a:solidFill>
                <a:latin typeface="Arial"/>
                <a:ea typeface="Arial"/>
                <a:cs typeface="Arial"/>
              </a:defRPr>
            </a:pPr>
            <a:r>
              <a:rPr sz="2400" b="0" i="0">
                <a:solidFill>
                  <a:srgbClr val="202020"/>
                </a:solidFill>
                <a:latin typeface="Arial"/>
                <a:ea typeface="Arial"/>
                <a:cs typeface="Arial"/>
              </a:rPr>
              <a:t>Circular interventions do not contribute equally. In this scenario, L4 determines the economic result, L3 determines the GHG result, L2 produces a small water benefit, and L1 creates a latent material credit. ViCBio DM is defensible as a screening and experiment platform before field trials or capital planning.</a:t>
            </a:r>
          </a:p>
        </p:txBody>
      </p:sp>
      <p:sp>
        <p:nvSpPr>
          <p:cNvPr id="85" name="">
            <a:extLst xmlns:a="http://schemas.openxmlformats.org/drawingml/2006/main">
              <a:ext uri="{FF2B5EF4-FFF2-40B4-BE49-F238E27FC236}">
                <a16:creationId xmlns:a16="http://schemas.microsoft.com/office/drawing/2014/main" id="{1969AE64-8B97-42B3-A8B6-1210F77661D9}"/>
              </a:ext>
            </a:extLst>
          </p:cNvPr>
          <p:cNvSpPr>
            <a:spLocks xmlns:a="http://schemas.openxmlformats.org/drawingml/2006/main" noGrp="1"/>
          </p:cNvSpPr>
          <p:nvPr/>
        </p:nvSpPr>
        <p:spPr>
          <a:xfrm xmlns:a="http://schemas.openxmlformats.org/drawingml/2006/main">
            <a:off x="36576000" y="18611850"/>
            <a:ext cx="11658600" cy="7543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14288">
            <a:solidFill>
              <a:srgbClr val="D7D0C7"/>
            </a:solidFill>
            <a:prstDash val="solid"/>
          </a:ln>
        </p:spPr>
      </p:sp>
      <p:sp>
        <p:nvSpPr>
          <p:cNvPr id="86" name="">
            <a:extLst xmlns:a="http://schemas.openxmlformats.org/drawingml/2006/main">
              <a:ext uri="{FF2B5EF4-FFF2-40B4-BE49-F238E27FC236}">
                <a16:creationId xmlns:a16="http://schemas.microsoft.com/office/drawing/2014/main" id="{2853DA86-7D90-44D2-9B06-05B884DD8B98}"/>
              </a:ext>
            </a:extLst>
          </p:cNvPr>
          <p:cNvSpPr>
            <a:spLocks xmlns:a="http://schemas.openxmlformats.org/drawingml/2006/main" noGrp="1"/>
          </p:cNvSpPr>
          <p:nvPr/>
        </p:nvSpPr>
        <p:spPr>
          <a:xfrm xmlns:a="http://schemas.openxmlformats.org/drawingml/2006/main">
            <a:off x="36576000" y="18611850"/>
            <a:ext cx="133350" cy="7543800"/>
          </a:xfrm>
          <a:prstGeom xmlns:a="http://schemas.openxmlformats.org/drawingml/2006/main" prst="rect">
            <a:avLst/>
          </a:prstGeom>
          <a:solidFill xmlns:a="http://schemas.openxmlformats.org/drawingml/2006/main">
            <a:srgbClr val="B8872D"/>
          </a:solidFill>
          <a:ln xmlns:a="http://schemas.openxmlformats.org/drawingml/2006/main" w="0">
            <a:noFill/>
          </a:ln>
        </p:spPr>
      </p:sp>
      <p:sp>
        <p:nvSpPr>
          <p:cNvPr id="87" name="Limitations-heading">
            <a:extLst xmlns:a="http://schemas.openxmlformats.org/drawingml/2006/main">
              <a:ext uri="{FF2B5EF4-FFF2-40B4-BE49-F238E27FC236}">
                <a16:creationId xmlns:a16="http://schemas.microsoft.com/office/drawing/2014/main" id="{D099DC2D-DDCA-44DE-A5E1-3507A04B756F}"/>
              </a:ext>
            </a:extLst>
          </p:cNvPr>
          <p:cNvSpPr>
            <a:spLocks xmlns:a="http://schemas.openxmlformats.org/drawingml/2006/main" noGrp="1"/>
          </p:cNvSpPr>
          <p:nvPr/>
        </p:nvSpPr>
        <p:spPr>
          <a:xfrm xmlns:a="http://schemas.openxmlformats.org/drawingml/2006/main">
            <a:off x="36899850" y="188404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Limitations</a:t>
            </a:r>
          </a:p>
        </p:txBody>
      </p:sp>
      <p:sp>
        <p:nvSpPr>
          <p:cNvPr id="88" name="">
            <a:extLst xmlns:a="http://schemas.openxmlformats.org/drawingml/2006/main">
              <a:ext uri="{FF2B5EF4-FFF2-40B4-BE49-F238E27FC236}">
                <a16:creationId xmlns:a16="http://schemas.microsoft.com/office/drawing/2014/main" id="{A4C84137-B42F-4259-9B49-D34F662DC91F}"/>
              </a:ext>
            </a:extLst>
          </p:cNvPr>
          <p:cNvSpPr>
            <a:spLocks xmlns:a="http://schemas.openxmlformats.org/drawingml/2006/main" noGrp="1"/>
          </p:cNvSpPr>
          <p:nvPr/>
        </p:nvSpPr>
        <p:spPr>
          <a:xfrm xmlns:a="http://schemas.openxmlformats.org/drawingml/2006/main">
            <a:off x="36899850" y="19488150"/>
            <a:ext cx="110109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89" name="">
            <a:extLst xmlns:a="http://schemas.openxmlformats.org/drawingml/2006/main">
              <a:ext uri="{FF2B5EF4-FFF2-40B4-BE49-F238E27FC236}">
                <a16:creationId xmlns:a16="http://schemas.microsoft.com/office/drawing/2014/main" id="{55396276-7088-491A-A3ED-1EA3842B23D5}"/>
              </a:ext>
            </a:extLst>
          </p:cNvPr>
          <p:cNvSpPr>
            <a:spLocks xmlns:a="http://schemas.openxmlformats.org/drawingml/2006/main" noGrp="1"/>
          </p:cNvSpPr>
          <p:nvPr/>
        </p:nvSpPr>
        <p:spPr>
          <a:xfrm xmlns:a="http://schemas.openxmlformats.org/drawingml/2006/main">
            <a:off x="36918900" y="19678650"/>
            <a:ext cx="10972800" cy="624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1000"/>
              </a:lnSpc>
              <a:buNone/>
              <a:defRPr sz="2400" b="0" i="0">
                <a:solidFill>
                  <a:srgbClr val="202020"/>
                </a:solidFill>
                <a:latin typeface="Arial"/>
                <a:ea typeface="Arial"/>
                <a:cs typeface="Arial"/>
              </a:defRPr>
            </a:pPr>
            <a:r>
              <a:rPr sz="2400" b="0" i="0">
                <a:solidFill>
                  <a:srgbClr val="202020"/>
                </a:solidFill>
                <a:latin typeface="Arial"/>
                <a:ea typeface="Arial"/>
                <a:cs typeface="Arial"/>
              </a:rPr>
              <a:t>• Simulated outputs; one virtual farm-year; no field validation.</a:t>
            </a:r>
          </a:p>
          <a:p xmlns:a="http://schemas.openxmlformats.org/drawingml/2006/main">
            <a:pPr algn="l">
              <a:lnSpc>
                <a:spcPct val="101000"/>
              </a:lnSpc>
              <a:buNone/>
              <a:defRPr sz="2400" b="0" i="0">
                <a:solidFill>
                  <a:srgbClr val="202020"/>
                </a:solidFill>
                <a:latin typeface="Arial"/>
                <a:ea typeface="Arial"/>
                <a:cs typeface="Arial"/>
              </a:defRPr>
            </a:pPr>
            <a:r>
              <a:rPr sz="2400" b="0" i="0">
                <a:solidFill>
                  <a:srgbClr val="202020"/>
                </a:solidFill>
                <a:latin typeface="Arial"/>
                <a:ea typeface="Arial"/>
                <a:cs typeface="Arial"/>
              </a:rPr>
              <a:t>• No CapEx, financing, taxes, or depreciation; no ROI claim.</a:t>
            </a:r>
          </a:p>
          <a:p xmlns:a="http://schemas.openxmlformats.org/drawingml/2006/main">
            <a:pPr algn="l">
              <a:lnSpc>
                <a:spcPct val="101000"/>
              </a:lnSpc>
              <a:buNone/>
              <a:defRPr sz="2400" b="0" i="0">
                <a:solidFill>
                  <a:srgbClr val="202020"/>
                </a:solidFill>
                <a:latin typeface="Arial"/>
                <a:ea typeface="Arial"/>
                <a:cs typeface="Arial"/>
              </a:defRPr>
            </a:pPr>
            <a:r>
              <a:rPr sz="2400" b="0" i="0">
                <a:solidFill>
                  <a:srgbClr val="202020"/>
                </a:solidFill>
                <a:latin typeface="Arial"/>
                <a:ea typeface="Arial"/>
                <a:cs typeface="Arial"/>
              </a:rPr>
              <a:t>• L4 depends strongly on calibrated yields and product prices.</a:t>
            </a:r>
          </a:p>
          <a:p xmlns:a="http://schemas.openxmlformats.org/drawingml/2006/main">
            <a:pPr algn="l">
              <a:lnSpc>
                <a:spcPct val="101000"/>
              </a:lnSpc>
              <a:buNone/>
              <a:defRPr sz="2400" b="0" i="0">
                <a:solidFill>
                  <a:srgbClr val="202020"/>
                </a:solidFill>
                <a:latin typeface="Arial"/>
                <a:ea typeface="Arial"/>
                <a:cs typeface="Arial"/>
              </a:defRPr>
            </a:pPr>
            <a:r>
              <a:rPr sz="2400" b="0" i="0">
                <a:solidFill>
                  <a:srgbClr val="202020"/>
                </a:solidFill>
                <a:latin typeface="Arial"/>
                <a:ea typeface="Arial"/>
                <a:cs typeface="Arial"/>
              </a:rPr>
              <a:t>• Physical nutrient return and wastewater treatment remain active when L1/L2 toggles are off; the toggles add next-day credits.</a:t>
            </a:r>
          </a:p>
          <a:p xmlns:a="http://schemas.openxmlformats.org/drawingml/2006/main">
            <a:pPr algn="l">
              <a:lnSpc>
                <a:spcPct val="101000"/>
              </a:lnSpc>
              <a:buNone/>
              <a:defRPr sz="2400" b="0" i="0">
                <a:solidFill>
                  <a:srgbClr val="202020"/>
                </a:solidFill>
                <a:latin typeface="Arial"/>
                <a:ea typeface="Arial"/>
                <a:cs typeface="Arial"/>
              </a:defRPr>
            </a:pPr>
            <a:r>
              <a:rPr sz="2400" b="0" i="0">
                <a:solidFill>
                  <a:srgbClr val="202020"/>
                </a:solidFill>
                <a:latin typeface="Arial"/>
                <a:ea typeface="Arial"/>
                <a:cs typeface="Arial"/>
              </a:rPr>
              <a:t>• The abstract's five farm systems are not yet five comparable scenarios in this code revision.</a:t>
            </a:r>
          </a:p>
          <a:p xmlns:a="http://schemas.openxmlformats.org/drawingml/2006/main">
            <a:pPr algn="l">
              <a:lnSpc>
                <a:spcPct val="101000"/>
              </a:lnSpc>
              <a:buNone/>
              <a:defRPr sz="2400" b="0" i="0">
                <a:solidFill>
                  <a:srgbClr val="202020"/>
                </a:solidFill>
                <a:latin typeface="Arial"/>
                <a:ea typeface="Arial"/>
                <a:cs typeface="Arial"/>
              </a:defRPr>
            </a:pPr>
            <a:r>
              <a:rPr sz="2400" b="0" i="0">
                <a:solidFill>
                  <a:srgbClr val="202020"/>
                </a:solidFill>
                <a:latin typeface="Arial"/>
                <a:ea typeface="Arial"/>
                <a:cs typeface="Arial"/>
              </a:rPr>
              <a:t>• Passing tests verifies software contracts, not scientific or financial validity.</a:t>
            </a:r>
          </a:p>
        </p:txBody>
      </p:sp>
      <p:sp>
        <p:nvSpPr>
          <p:cNvPr id="90" name="">
            <a:extLst xmlns:a="http://schemas.openxmlformats.org/drawingml/2006/main">
              <a:ext uri="{FF2B5EF4-FFF2-40B4-BE49-F238E27FC236}">
                <a16:creationId xmlns:a16="http://schemas.microsoft.com/office/drawing/2014/main" id="{39F5CB6C-3164-4E40-8A2E-769C692DF0C1}"/>
              </a:ext>
            </a:extLst>
          </p:cNvPr>
          <p:cNvSpPr>
            <a:spLocks xmlns:a="http://schemas.openxmlformats.org/drawingml/2006/main" noGrp="1"/>
          </p:cNvSpPr>
          <p:nvPr/>
        </p:nvSpPr>
        <p:spPr>
          <a:xfrm xmlns:a="http://schemas.openxmlformats.org/drawingml/2006/main">
            <a:off x="36576000" y="26365200"/>
            <a:ext cx="11658600" cy="5695950"/>
          </a:xfrm>
          <a:prstGeom xmlns:a="http://schemas.openxmlformats.org/drawingml/2006/main" prst="roundRect">
            <a:avLst>
              <a:gd name="adj" fmla="val 3010"/>
            </a:avLst>
          </a:prstGeom>
          <a:solidFill xmlns:a="http://schemas.openxmlformats.org/drawingml/2006/main">
            <a:srgbClr val="FFFFFF"/>
          </a:solidFill>
          <a:ln xmlns:a="http://schemas.openxmlformats.org/drawingml/2006/main" w="14288">
            <a:solidFill>
              <a:srgbClr val="D7D0C7"/>
            </a:solidFill>
            <a:prstDash val="solid"/>
          </a:ln>
        </p:spPr>
      </p:sp>
      <p:sp>
        <p:nvSpPr>
          <p:cNvPr id="91" name="">
            <a:extLst xmlns:a="http://schemas.openxmlformats.org/drawingml/2006/main">
              <a:ext uri="{FF2B5EF4-FFF2-40B4-BE49-F238E27FC236}">
                <a16:creationId xmlns:a16="http://schemas.microsoft.com/office/drawing/2014/main" id="{39A088DD-201F-42DF-A517-65B95B4B65AB}"/>
              </a:ext>
            </a:extLst>
          </p:cNvPr>
          <p:cNvSpPr>
            <a:spLocks xmlns:a="http://schemas.openxmlformats.org/drawingml/2006/main" noGrp="1"/>
          </p:cNvSpPr>
          <p:nvPr/>
        </p:nvSpPr>
        <p:spPr>
          <a:xfrm xmlns:a="http://schemas.openxmlformats.org/drawingml/2006/main">
            <a:off x="36576000" y="26365200"/>
            <a:ext cx="133350" cy="5695950"/>
          </a:xfrm>
          <a:prstGeom xmlns:a="http://schemas.openxmlformats.org/drawingml/2006/main" prst="rect">
            <a:avLst/>
          </a:prstGeom>
          <a:solidFill xmlns:a="http://schemas.openxmlformats.org/drawingml/2006/main">
            <a:srgbClr val="2C7180"/>
          </a:solidFill>
          <a:ln xmlns:a="http://schemas.openxmlformats.org/drawingml/2006/main" w="0">
            <a:noFill/>
          </a:ln>
        </p:spPr>
      </p:sp>
      <p:sp>
        <p:nvSpPr>
          <p:cNvPr id="92" name="Next validation steps-heading">
            <a:extLst xmlns:a="http://schemas.openxmlformats.org/drawingml/2006/main">
              <a:ext uri="{FF2B5EF4-FFF2-40B4-BE49-F238E27FC236}">
                <a16:creationId xmlns:a16="http://schemas.microsoft.com/office/drawing/2014/main" id="{8D3C190A-6E32-460A-835C-10FDC47D1912}"/>
              </a:ext>
            </a:extLst>
          </p:cNvPr>
          <p:cNvSpPr>
            <a:spLocks xmlns:a="http://schemas.openxmlformats.org/drawingml/2006/main" noGrp="1"/>
          </p:cNvSpPr>
          <p:nvPr/>
        </p:nvSpPr>
        <p:spPr>
          <a:xfrm xmlns:a="http://schemas.openxmlformats.org/drawingml/2006/main">
            <a:off x="36899850" y="2659380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Next validation steps</a:t>
            </a:r>
          </a:p>
        </p:txBody>
      </p:sp>
      <p:sp>
        <p:nvSpPr>
          <p:cNvPr id="93" name="">
            <a:extLst xmlns:a="http://schemas.openxmlformats.org/drawingml/2006/main">
              <a:ext uri="{FF2B5EF4-FFF2-40B4-BE49-F238E27FC236}">
                <a16:creationId xmlns:a16="http://schemas.microsoft.com/office/drawing/2014/main" id="{3E3D9D3A-C4CD-4C2F-A1AA-006B1849561B}"/>
              </a:ext>
            </a:extLst>
          </p:cNvPr>
          <p:cNvSpPr>
            <a:spLocks xmlns:a="http://schemas.openxmlformats.org/drawingml/2006/main" noGrp="1"/>
          </p:cNvSpPr>
          <p:nvPr/>
        </p:nvSpPr>
        <p:spPr>
          <a:xfrm xmlns:a="http://schemas.openxmlformats.org/drawingml/2006/main">
            <a:off x="36899850" y="27241500"/>
            <a:ext cx="110109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94" name="">
            <a:extLst xmlns:a="http://schemas.openxmlformats.org/drawingml/2006/main">
              <a:ext uri="{FF2B5EF4-FFF2-40B4-BE49-F238E27FC236}">
                <a16:creationId xmlns:a16="http://schemas.microsoft.com/office/drawing/2014/main" id="{075294F0-83CA-448D-BBA6-E3B4FE0C8A1F}"/>
              </a:ext>
            </a:extLst>
          </p:cNvPr>
          <p:cNvSpPr>
            <a:spLocks xmlns:a="http://schemas.openxmlformats.org/drawingml/2006/main" noGrp="1"/>
          </p:cNvSpPr>
          <p:nvPr/>
        </p:nvSpPr>
        <p:spPr>
          <a:xfrm xmlns:a="http://schemas.openxmlformats.org/drawingml/2006/main">
            <a:off x="36918900" y="27432000"/>
            <a:ext cx="10972800" cy="440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1  Calibrate loop-specific CapEx and O&amp;M.</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2  Ingest observed market and farm data.</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3  Implement the five proposed farm-system scenarios.</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4  Run global sensitivity and uncertainty analysis.</a:t>
            </a:r>
          </a:p>
          <a:p xmlns:a="http://schemas.openxmlformats.org/drawingml/2006/main">
            <a:pPr algn="l">
              <a:lnSpc>
                <a:spcPct val="104000"/>
              </a:lnSpc>
              <a:buNone/>
              <a:defRPr sz="2400" b="0" i="0">
                <a:solidFill>
                  <a:srgbClr val="202020"/>
                </a:solidFill>
                <a:latin typeface="Arial"/>
                <a:ea typeface="Arial"/>
                <a:cs typeface="Arial"/>
              </a:defRPr>
            </a:pPr>
            <a:r>
              <a:rPr sz="2400" b="0" i="0">
                <a:solidFill>
                  <a:srgbClr val="202020"/>
                </a:solidFill>
                <a:latin typeface="Arial"/>
                <a:ea typeface="Arial"/>
                <a:cs typeface="Arial"/>
              </a:rPr>
              <a:t>5  Compare against farm mass-balance and financial records before reporting ROI.</a:t>
            </a:r>
          </a:p>
        </p:txBody>
      </p:sp>
      <p:sp>
        <p:nvSpPr>
          <p:cNvPr id="95" name="">
            <a:extLst xmlns:a="http://schemas.openxmlformats.org/drawingml/2006/main">
              <a:ext uri="{FF2B5EF4-FFF2-40B4-BE49-F238E27FC236}">
                <a16:creationId xmlns:a16="http://schemas.microsoft.com/office/drawing/2014/main" id="{E00D26DF-751D-4B21-B9D6-3A05D180DAC3}"/>
              </a:ext>
            </a:extLst>
          </p:cNvPr>
          <p:cNvSpPr>
            <a:spLocks xmlns:a="http://schemas.openxmlformats.org/drawingml/2006/main" noGrp="1"/>
          </p:cNvSpPr>
          <p:nvPr/>
        </p:nvSpPr>
        <p:spPr>
          <a:xfrm xmlns:a="http://schemas.openxmlformats.org/drawingml/2006/main">
            <a:off x="36576000" y="32270700"/>
            <a:ext cx="11658600" cy="4724400"/>
          </a:xfrm>
          <a:prstGeom xmlns:a="http://schemas.openxmlformats.org/drawingml/2006/main" prst="roundRect">
            <a:avLst>
              <a:gd name="adj" fmla="val 3629"/>
            </a:avLst>
          </a:prstGeom>
          <a:solidFill xmlns:a="http://schemas.openxmlformats.org/drawingml/2006/main">
            <a:srgbClr val="FFFFFF"/>
          </a:solidFill>
          <a:ln xmlns:a="http://schemas.openxmlformats.org/drawingml/2006/main" w="14288">
            <a:solidFill>
              <a:srgbClr val="D7D0C7"/>
            </a:solidFill>
            <a:prstDash val="solid"/>
          </a:ln>
        </p:spPr>
      </p:sp>
      <p:sp>
        <p:nvSpPr>
          <p:cNvPr id="96" name="">
            <a:extLst xmlns:a="http://schemas.openxmlformats.org/drawingml/2006/main">
              <a:ext uri="{FF2B5EF4-FFF2-40B4-BE49-F238E27FC236}">
                <a16:creationId xmlns:a16="http://schemas.microsoft.com/office/drawing/2014/main" id="{6B6396F8-9C7A-4960-9517-D4DF8B018E63}"/>
              </a:ext>
            </a:extLst>
          </p:cNvPr>
          <p:cNvSpPr>
            <a:spLocks xmlns:a="http://schemas.openxmlformats.org/drawingml/2006/main" noGrp="1"/>
          </p:cNvSpPr>
          <p:nvPr/>
        </p:nvSpPr>
        <p:spPr>
          <a:xfrm xmlns:a="http://schemas.openxmlformats.org/drawingml/2006/main">
            <a:off x="36576000" y="32270700"/>
            <a:ext cx="133350" cy="4724400"/>
          </a:xfrm>
          <a:prstGeom xmlns:a="http://schemas.openxmlformats.org/drawingml/2006/main" prst="rect">
            <a:avLst/>
          </a:prstGeom>
          <a:solidFill xmlns:a="http://schemas.openxmlformats.org/drawingml/2006/main">
            <a:srgbClr val="500000"/>
          </a:solidFill>
          <a:ln xmlns:a="http://schemas.openxmlformats.org/drawingml/2006/main" w="0">
            <a:noFill/>
          </a:ln>
        </p:spPr>
      </p:sp>
      <p:sp>
        <p:nvSpPr>
          <p:cNvPr id="97" name="References &amp; acknowledgments-heading">
            <a:extLst xmlns:a="http://schemas.openxmlformats.org/drawingml/2006/main">
              <a:ext uri="{FF2B5EF4-FFF2-40B4-BE49-F238E27FC236}">
                <a16:creationId xmlns:a16="http://schemas.microsoft.com/office/drawing/2014/main" id="{0FCD5E3D-0061-46B5-A1B2-D8DF64500EA6}"/>
              </a:ext>
            </a:extLst>
          </p:cNvPr>
          <p:cNvSpPr>
            <a:spLocks xmlns:a="http://schemas.openxmlformats.org/drawingml/2006/main" noGrp="1"/>
          </p:cNvSpPr>
          <p:nvPr/>
        </p:nvSpPr>
        <p:spPr>
          <a:xfrm xmlns:a="http://schemas.openxmlformats.org/drawingml/2006/main">
            <a:off x="36899850" y="3249930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4000"/>
              </a:lnSpc>
              <a:buNone/>
              <a:defRPr sz="3000" b="1" i="0">
                <a:solidFill>
                  <a:srgbClr val="500000"/>
                </a:solidFill>
                <a:latin typeface="Arial"/>
                <a:ea typeface="Arial"/>
                <a:cs typeface="Arial"/>
              </a:defRPr>
            </a:pPr>
            <a:r>
              <a:rPr sz="3000" b="1" i="0">
                <a:solidFill>
                  <a:srgbClr val="500000"/>
                </a:solidFill>
                <a:latin typeface="Arial"/>
                <a:ea typeface="Arial"/>
                <a:cs typeface="Arial"/>
              </a:rPr>
              <a:t>References &amp; acknowledgments</a:t>
            </a:r>
          </a:p>
        </p:txBody>
      </p:sp>
      <p:sp>
        <p:nvSpPr>
          <p:cNvPr id="98" name="">
            <a:extLst xmlns:a="http://schemas.openxmlformats.org/drawingml/2006/main">
              <a:ext uri="{FF2B5EF4-FFF2-40B4-BE49-F238E27FC236}">
                <a16:creationId xmlns:a16="http://schemas.microsoft.com/office/drawing/2014/main" id="{473C0955-3012-4646-8FEA-EAC0DC220200}"/>
              </a:ext>
            </a:extLst>
          </p:cNvPr>
          <p:cNvSpPr>
            <a:spLocks xmlns:a="http://schemas.openxmlformats.org/drawingml/2006/main" noGrp="1"/>
          </p:cNvSpPr>
          <p:nvPr/>
        </p:nvSpPr>
        <p:spPr>
          <a:xfrm xmlns:a="http://schemas.openxmlformats.org/drawingml/2006/main">
            <a:off x="36899850" y="33147000"/>
            <a:ext cx="11010900" cy="0"/>
          </a:xfrm>
          <a:prstGeom xmlns:a="http://schemas.openxmlformats.org/drawingml/2006/main" prst="line">
            <a:avLst/>
          </a:prstGeom>
          <a:noFill xmlns:a="http://schemas.openxmlformats.org/drawingml/2006/main"/>
          <a:ln xmlns:a="http://schemas.openxmlformats.org/drawingml/2006/main" w="14288">
            <a:solidFill>
              <a:srgbClr val="D7D0C7"/>
            </a:solidFill>
            <a:prstDash val="solid"/>
          </a:ln>
        </p:spPr>
      </p:sp>
      <p:sp>
        <p:nvSpPr>
          <p:cNvPr id="99" name="">
            <a:extLst xmlns:a="http://schemas.openxmlformats.org/drawingml/2006/main">
              <a:ext uri="{FF2B5EF4-FFF2-40B4-BE49-F238E27FC236}">
                <a16:creationId xmlns:a16="http://schemas.microsoft.com/office/drawing/2014/main" id="{B48C2F93-7F70-42B9-A9B5-13120929FA8C}"/>
              </a:ext>
            </a:extLst>
          </p:cNvPr>
          <p:cNvSpPr>
            <a:spLocks xmlns:a="http://schemas.openxmlformats.org/drawingml/2006/main" noGrp="1"/>
          </p:cNvSpPr>
          <p:nvPr/>
        </p:nvSpPr>
        <p:spPr>
          <a:xfrm xmlns:a="http://schemas.openxmlformats.org/drawingml/2006/main">
            <a:off x="36918900" y="333375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l">
              <a:lnSpc>
                <a:spcPct val="102000"/>
              </a:lnSpc>
              <a:buNone/>
              <a:defRPr sz="1800" b="0" i="0">
                <a:solidFill>
                  <a:srgbClr val="202020"/>
                </a:solidFill>
                <a:latin typeface="Arial"/>
                <a:ea typeface="Arial"/>
                <a:cs typeface="Arial"/>
              </a:defRPr>
            </a:pPr>
            <a:r>
              <a:rPr sz="1800" b="0" i="0">
                <a:solidFill>
                  <a:srgbClr val="202020"/>
                </a:solidFill>
                <a:latin typeface="Arial"/>
                <a:ea typeface="Arial"/>
                <a:cs typeface="Arial"/>
              </a:rPr>
              <a:t>1. USDA NASS. 2022 Census of Agriculture: Dairy Cattle and Milk Production. 2024.</a:t>
            </a:r>
          </a:p>
          <a:p xmlns:a="http://schemas.openxmlformats.org/drawingml/2006/main">
            <a:pPr algn="l">
              <a:lnSpc>
                <a:spcPct val="102000"/>
              </a:lnSpc>
              <a:buNone/>
              <a:defRPr sz="1800" b="0" i="0">
                <a:solidFill>
                  <a:srgbClr val="202020"/>
                </a:solidFill>
                <a:latin typeface="Arial"/>
                <a:ea typeface="Arial"/>
                <a:cs typeface="Arial"/>
              </a:defRPr>
            </a:pPr>
            <a:r>
              <a:rPr sz="1800" b="0" i="0">
                <a:solidFill>
                  <a:srgbClr val="202020"/>
                </a:solidFill>
                <a:latin typeface="Arial"/>
                <a:ea typeface="Arial"/>
                <a:cs typeface="Arial"/>
              </a:rPr>
              <a:t>2. Wood, P.D.P. Nature 216, 164–165 (1967). doi:10.1038/216164a0.</a:t>
            </a:r>
          </a:p>
          <a:p xmlns:a="http://schemas.openxmlformats.org/drawingml/2006/main">
            <a:pPr algn="l">
              <a:lnSpc>
                <a:spcPct val="102000"/>
              </a:lnSpc>
              <a:buNone/>
              <a:defRPr sz="1800" b="0" i="0">
                <a:solidFill>
                  <a:srgbClr val="202020"/>
                </a:solidFill>
                <a:latin typeface="Arial"/>
                <a:ea typeface="Arial"/>
                <a:cs typeface="Arial"/>
              </a:defRPr>
            </a:pPr>
            <a:r>
              <a:rPr sz="1800" b="0" i="0">
                <a:solidFill>
                  <a:srgbClr val="202020"/>
                </a:solidFill>
                <a:latin typeface="Arial"/>
                <a:ea typeface="Arial"/>
                <a:cs typeface="Arial"/>
              </a:rPr>
              <a:t>3. Muell, J.D. et al. Front. Environ. Sci. 10:880839 (2022). doi:10.3389/fenvs.2022.880839.</a:t>
            </a:r>
          </a:p>
          <a:p xmlns:a="http://schemas.openxmlformats.org/drawingml/2006/main">
            <a:pPr algn="l">
              <a:lnSpc>
                <a:spcPct val="102000"/>
              </a:lnSpc>
              <a:buNone/>
              <a:defRPr sz="1800" b="0" i="0">
                <a:solidFill>
                  <a:srgbClr val="202020"/>
                </a:solidFill>
                <a:latin typeface="Arial"/>
                <a:ea typeface="Arial"/>
                <a:cs typeface="Arial"/>
              </a:defRPr>
            </a:pPr>
            <a:r>
              <a:rPr sz="1800" b="0" i="0">
                <a:solidFill>
                  <a:srgbClr val="202020"/>
                </a:solidFill>
                <a:latin typeface="Arial"/>
                <a:ea typeface="Arial"/>
                <a:cs typeface="Arial"/>
              </a:rPr>
              <a:t>4. ViCBio DM source: research-agents, commit 7c41c15daaf1. Outputs generated 2026-09-05.</a:t>
            </a:r>
          </a:p>
          <a:p xmlns:a="http://schemas.openxmlformats.org/drawingml/2006/main">
            <a:r>
              <a:t/>
            </a:r>
          </a:p>
          <a:p xmlns:a="http://schemas.openxmlformats.org/drawingml/2006/main">
            <a:pPr algn="l">
              <a:lnSpc>
                <a:spcPct val="102000"/>
              </a:lnSpc>
              <a:buNone/>
              <a:defRPr sz="1800" b="0" i="0">
                <a:solidFill>
                  <a:srgbClr val="202020"/>
                </a:solidFill>
                <a:latin typeface="Arial"/>
                <a:ea typeface="Arial"/>
                <a:cs typeface="Arial"/>
              </a:defRPr>
            </a:pPr>
            <a:r>
              <a:rPr sz="1800" b="0" i="0">
                <a:solidFill>
                  <a:srgbClr val="202020"/>
                </a:solidFill>
                <a:latin typeface="Arial"/>
                <a:ea typeface="Arial"/>
                <a:cs typeface="Arial"/>
              </a:rPr>
              <a:t>Acknowledgments: Texas A&amp;M Departments of Animal Science and Statistics.</a:t>
            </a:r>
          </a:p>
        </p:txBody>
      </p:sp>
      <p:sp>
        <p:nvSpPr>
          <p:cNvPr id="100" name="">
            <a:extLst xmlns:a="http://schemas.openxmlformats.org/drawingml/2006/main">
              <a:ext uri="{FF2B5EF4-FFF2-40B4-BE49-F238E27FC236}">
                <a16:creationId xmlns:a16="http://schemas.microsoft.com/office/drawing/2014/main" id="{05C0CC4D-37FA-4013-8B0C-C49D95D9DF0F}"/>
              </a:ext>
            </a:extLst>
          </p:cNvPr>
          <p:cNvSpPr>
            <a:spLocks xmlns:a="http://schemas.openxmlformats.org/drawingml/2006/main" noGrp="1"/>
          </p:cNvSpPr>
          <p:nvPr/>
        </p:nvSpPr>
        <p:spPr>
          <a:xfrm xmlns:a="http://schemas.openxmlformats.org/drawingml/2006/main">
            <a:off x="1200150" y="37642800"/>
            <a:ext cx="4695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t">
            <a:noAutofit/>
          </a:bodyPr>
          <a:lstStyle xmlns:a="http://schemas.openxmlformats.org/drawingml/2006/main"/>
          <a:p xmlns:a="http://schemas.openxmlformats.org/drawingml/2006/main">
            <a:pPr algn="ctr">
              <a:lnSpc>
                <a:spcPct val="104000"/>
              </a:lnSpc>
              <a:buNone/>
              <a:defRPr sz="1800" b="1" i="0">
                <a:solidFill>
                  <a:srgbClr val="500000"/>
                </a:solidFill>
                <a:latin typeface="Arial"/>
                <a:ea typeface="Arial"/>
                <a:cs typeface="Arial"/>
              </a:defRPr>
            </a:pPr>
            <a:r>
              <a:rPr sz="1800" b="1" i="0">
                <a:solidFill>
                  <a:srgbClr val="500000"/>
                </a:solidFill>
                <a:latin typeface="Arial"/>
                <a:ea typeface="Arial"/>
                <a:cs typeface="Arial"/>
              </a:rPr>
              <a:t>Interpretation boundary: modeled operating profit excludes capital investment. Values are computational experiment outputs, not farm measurements.</a:t>
            </a:r>
          </a:p>
        </p:txBody>
      </p:sp>
    </p:spTree>
    <p:extLst>
      <p:ext uri="{BB962C8B-B14F-4D97-AF65-F5344CB8AC3E}">
        <p14:creationId xmlns:p14="http://schemas.microsoft.com/office/powerpoint/2010/main" val="7812877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2026-09-06T03:57:21.0950000Z</dcterms:created>
  <dcterms:modified xsi:type="dcterms:W3CDTF">2026-09-06T03:57:21.0950000Z</dcterms:modified>
</coreProperties>
</file>