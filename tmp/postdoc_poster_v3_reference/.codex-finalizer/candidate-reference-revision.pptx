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c6142b6e1d4dc7" /><Relationship Type="http://schemas.openxmlformats.org/officeDocument/2006/relationships/extended-properties" Target="/docProps/app.xml" Id="R0f36eb3310cd4176" /><Relationship Type="http://schemas.openxmlformats.org/officeDocument/2006/relationships/officeDocument" Target="/ppt/presentation.xml" Id="R2d189620cbdb47ba" /></Relationships>
</file>

<file path=ppt/presentation.xml><?xml version="1.0" encoding="utf-8"?>
<p:presentation xmlns:p="http://schemas.openxmlformats.org/presentationml/2006/main">
  <p:sldMasterIdLst>
    <p:sldMasterId xmlns:r="http://schemas.openxmlformats.org/officeDocument/2006/relationships" id="2147483648" r:id="R231d69c9e43a47f4"/>
  </p:sldMasterIdLst>
  <p:notesMasterIdLst>
    <p:notesMasterId xmlns:r="http://schemas.openxmlformats.org/officeDocument/2006/relationships" r:id="R2b049b2609574843"/>
  </p:notesMasterIdLst>
  <p:sldIdLst>
    <p:sldId xmlns:r="http://schemas.openxmlformats.org/officeDocument/2006/relationships" id="256" r:id="Rbaa4eb9dde1942b8"/>
  </p:sldIdLst>
  <p:sldSz cx="49377600" cy="38404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da3759d83e4282" /><Relationship Type="http://schemas.openxmlformats.org/officeDocument/2006/relationships/slideMaster" Target="/ppt/slideMasters/slideMaster1.xml" Id="R231d69c9e43a47f4" /><Relationship Type="http://schemas.openxmlformats.org/officeDocument/2006/relationships/notesMaster" Target="/ppt/notesMasters/notesMaster1.xml" Id="R2b049b2609574843" /><Relationship Type="http://schemas.openxmlformats.org/officeDocument/2006/relationships/presProps" Target="/ppt/presProps.xml" Id="R1bcd51ba72d74499" /><Relationship Type="http://schemas.openxmlformats.org/officeDocument/2006/relationships/tableStyles" Target="/ppt/tableStyles.xml" Id="R279838df44ca4c5e" /><Relationship Type="http://schemas.openxmlformats.org/officeDocument/2006/relationships/slide" Target="/ppt/slides/slide1.xml" Id="Rbaa4eb9dde1942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790770d12946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259092ef6a4e2d" /><Relationship Type="http://schemas.openxmlformats.org/officeDocument/2006/relationships/notesMaster" Target="/ppt/notesMasters/notesMaster1.xml" Id="Rdbd12c6fc31340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FIVE-MINUTE POSTER TALK</a:t>
            </a:r>
          </a:p>
          <a:p xmlns:a="http://schemas.openxmlformats.org/drawingml/2006/main">
            <a:r>
              <a:t/>
            </a:r>
          </a:p>
          <a:p xmlns:a="http://schemas.openxmlformats.org/drawingml/2006/main">
            <a:r>
              <a:t>0:00 to 0:35. Why this matters</a:t>
            </a:r>
          </a:p>
          <a:p xmlns:a="http://schemas.openxmlformats.org/drawingml/2006/main">
            <a:r>
              <a:t>Feed represents 46 percent of specialized dairy production costs, while U.S. milk sales reached 52.8 billion dollars in 2022. Farms need to know which circular technologies recover enough value to justify detailed field and engineering work. Existing analyses often isolate one route. ViCBio DM places nutrient, water, energy, and processing routes inside the same herd and resource balance.</a:t>
            </a:r>
          </a:p>
          <a:p xmlns:a="http://schemas.openxmlformats.org/drawingml/2006/main">
            <a:r>
              <a:t/>
            </a:r>
          </a:p>
          <a:p xmlns:a="http://schemas.openxmlformats.org/drawingml/2006/main">
            <a:r>
              <a:t>0:35 to 1:15. Question and expectation</a:t>
            </a:r>
          </a:p>
          <a:p xmlns:a="http://schemas.openxmlformats.org/drawingml/2006/main">
            <a:r>
              <a:t>We asked which loop materially changes economic or environmental performance when all four compete within the same farm. We expected the product and energy loops to dominate because they create priced outputs. We expected nutrient and water recovery to become valuable mainly when feed or freshwater became limiting.</a:t>
            </a:r>
          </a:p>
          <a:p xmlns:a="http://schemas.openxmlformats.org/drawingml/2006/main">
            <a:r>
              <a:t/>
            </a:r>
          </a:p>
          <a:p xmlns:a="http://schemas.openxmlformats.org/drawingml/2006/main">
            <a:r>
              <a:t>1:15 to 1:55. Experiment</a:t>
            </a:r>
          </a:p>
          <a:p xmlns:a="http://schemas.openxmlformats.org/drawingml/2006/main">
            <a:r>
              <a:t>We simulated a 100-cow high-intensity farm for 365 days, with 80 hectares of cropland and 40 hectares of pasture. The full two-by-two-by-two-by-two design tested all sixteen loop configurations at seed 42. Five representative configurations were repeated across seeds 1 through 12. Processor, whey, and land components remained available in every run. We disabled amino-acid water savings and automatic manager responses to isolate loop effects.</a:t>
            </a:r>
          </a:p>
          <a:p xmlns:a="http://schemas.openxmlformats.org/drawingml/2006/main">
            <a:r>
              <a:t/>
            </a:r>
          </a:p>
          <a:p xmlns:a="http://schemas.openxmlformats.org/drawingml/2006/main">
            <a:r>
              <a:t>1:55 to 3:15. Factorial results</a:t>
            </a:r>
          </a:p>
          <a:p xmlns:a="http://schemas.openxmlformats.org/drawingml/2006/main">
            <a:r>
              <a:t>The figure uses area to match importance. Profit is the largest panel because the processing and product loop produces the largest change. At seed 42, L4 raises annual operating profit by about 79,000 dollars under the modeled product mix and prices. The energy loop adds about 4,400 dollars and reduces net emissions by 13.9 tonnes of carbon dioxide equivalent. L2 saves about 160,000 liters of freshwater and about 160 dollars. L1 generates 71 tonnes of feed-offset credit. Since farm-grown feed is not limiting in this scenario, the credit does not change operating profit.</a:t>
            </a:r>
          </a:p>
          <a:p xmlns:a="http://schemas.openxmlformats.org/drawingml/2006/main">
            <a:r>
              <a:t/>
            </a:r>
          </a:p>
          <a:p xmlns:a="http://schemas.openxmlformats.org/drawingml/2006/main">
            <a:r>
              <a:t>3:15 to 4:05. Combined and repeated-seed results</a:t>
            </a:r>
          </a:p>
          <a:p xmlns:a="http://schemas.openxmlformats.org/drawingml/2006/main">
            <a:r>
              <a:t>With all loops active, annual operating profit is about 124,000 dollars, net emissions are 121 tonnes of carbon dioxide equivalent, freshwater withdrawal is 38.7 megaliters, and circularity is 0.71. Milk output remains about 720,000 liters. Across twelve seeds, the route ranking is stable. Product configurations remain the high-profit cases, while energy configurations remain the low-emission cases.</a:t>
            </a:r>
          </a:p>
          <a:p xmlns:a="http://schemas.openxmlformats.org/drawingml/2006/main">
            <a:r>
              <a:t/>
            </a:r>
          </a:p>
          <a:p xmlns:a="http://schemas.openxmlformats.org/drawingml/2006/main">
            <a:r>
              <a:t>4:05 to 5:00. Decision and boundary</a:t>
            </a:r>
          </a:p>
          <a:p xmlns:a="http://schemas.openxmlformats.org/drawingml/2006/main">
            <a:r>
              <a:t>The practical use is to choose the next calibration target. Product pricing controls the economic case, so L4 needs observed yields, prices, capital cost, and operating cost before investment analysis. Energy recovery controls emissions, so L3 needs equipment and methane-capture calibration. Nutrient and water routes need explicit scarcity scenarios. This poster does not report ROI or payback because the experiment contains no capital-cost basis.</a:t>
            </a:r>
          </a:p>
          <a:p xmlns:a="http://schemas.openxmlformats.org/drawingml/2006/main">
            <a:r>
              <a:t/>
            </a:r>
          </a:p>
          <a:p xmlns:a="http://schemas.openxmlformats.org/drawingml/2006/main">
            <a:r>
              <a:t>Q&amp;A NOTES</a:t>
            </a:r>
          </a:p>
          <a:p xmlns:a="http://schemas.openxmlformats.org/drawingml/2006/main">
            <a:r>
              <a:t>Why is L4 large? The loop combines modeled processing revenue with byproduct routing and depends on product yields and prices.</a:t>
            </a:r>
          </a:p>
          <a:p xmlns:a="http://schemas.openxmlformats.org/drawingml/2006/main">
            <a:r>
              <a:t>Why is baseline circularity above zero? Physical wastewater treatment and nutrient return stay active when L1 and L2 are off. Those switches add next-day credits instead of disabling all recovery.</a:t>
            </a:r>
          </a:p>
          <a:p xmlns:a="http://schemas.openxmlformats.org/drawingml/2006/main">
            <a:r>
              <a:t>Were five farm types compared? No. Five real-world farm-system comparisons are planned but are not implemented in this code revision.</a:t>
            </a:r>
          </a:p>
          <a:p xmlns:a="http://schemas.openxmlformats.org/drawingml/2006/main">
            <a:r>
              <a:t>What do the tests establish? Unit tests check model logic, deterministic replay, and accounting equations. They do not validate biology, observed prices, capital performance, or field transferability.</a:t>
            </a:r>
          </a:p>
          <a:p xmlns:a="http://schemas.openxmlformats.org/drawingml/2006/main">
            <a:r>
              <a:t/>
            </a:r>
          </a:p>
          <a:p xmlns:a="http://schemas.openxmlformats.org/drawingml/2006/main">
            <a:r>
              <a:t>SOURCES</a:t>
            </a:r>
          </a:p>
          <a:p xmlns:a="http://schemas.openxmlformats.org/drawingml/2006/main">
            <a:r>
              <a:t>USDA NASS. 2022 Census of Agriculture: Dairy Cattle and Milk Production. 2024. https://data.nass.usda.gov/Publications/Highlights/2024/Census22_HL_Dairy.pdf</a:t>
            </a:r>
          </a:p>
          <a:p xmlns:a="http://schemas.openxmlformats.org/drawingml/2006/main">
            <a:r>
              <a:t>Wood, P.D.P. Algebraic model of the lactation curve in cattle. Nature 216, 164–165. https://doi.org/10.1038/216164a0</a:t>
            </a:r>
          </a:p>
          <a:p xmlns:a="http://schemas.openxmlformats.org/drawingml/2006/main">
            <a:r>
              <a:t>Muell, J.D. et al. Farm-scale water-energy-food-waste nexus analysis for a closed-loop dairy system. Frontiers in Environmental Science 10:880839. https://doi.org/10.3389/fenvs.2022.880839</a:t>
            </a:r>
          </a:p>
          <a:p xmlns:a="http://schemas.openxmlformats.org/drawingml/2006/main">
            <a:r>
              <a:t>ViCBio DM model code. https://github.com/Creator101-commits/research-agents. Version accessed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f28ffb070944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0aec39ead444e1" /><Relationship Type="http://schemas.openxmlformats.org/officeDocument/2006/relationships/slideLayout" Target="/ppt/slideLayouts/slideLayout1.xml" Id="Re138b96224a648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38b96224a648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9c8b28ddec481c" /><Relationship Type="http://schemas.openxmlformats.org/officeDocument/2006/relationships/image" Target="/ppt/media/image.png" Id="R5026701f3e0a413b" /><Relationship Type="http://schemas.openxmlformats.org/officeDocument/2006/relationships/image" Target="/ppt/media/image2.png" Id="Reeebc8a07a7d4715" /><Relationship Type="http://schemas.openxmlformats.org/officeDocument/2006/relationships/notesSlide" Target="/ppt/notesSlides/notesSlide1.xml" Id="R71bc9c4f62264d9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26E643FD-5B80-4909-B5D9-DE3B6EF6C302}"/>
              </a:ext>
            </a:extLst>
          </p:cNvPr>
          <p:cNvSpPr>
            <a:spLocks xmlns:a="http://schemas.openxmlformats.org/drawingml/2006/main" noGrp="1"/>
          </p:cNvSpPr>
          <p:nvPr/>
        </p:nvSpPr>
        <p:spPr>
          <a:xfrm xmlns:a="http://schemas.openxmlformats.org/drawingml/2006/main">
            <a:off x="0" y="0"/>
            <a:ext cx="49377600" cy="4457700"/>
          </a:xfrm>
          <a:prstGeom xmlns:a="http://schemas.openxmlformats.org/drawingml/2006/main" prst="rect">
            <a:avLst/>
          </a:prstGeom>
          <a:solidFill xmlns:a="http://schemas.openxmlformats.org/drawingml/2006/main">
            <a:srgbClr val="347B67"/>
          </a:solidFill>
          <a:ln xmlns:a="http://schemas.openxmlformats.org/drawingml/2006/main" w="0">
            <a:noFill/>
          </a:ln>
        </p:spPr>
      </p:sp>
      <p:sp>
        <p:nvSpPr>
          <p:cNvPr id="2" name="poster-title">
            <a:extLst xmlns:a="http://schemas.openxmlformats.org/drawingml/2006/main">
              <a:ext uri="{FF2B5EF4-FFF2-40B4-BE49-F238E27FC236}">
                <a16:creationId xmlns:a16="http://schemas.microsoft.com/office/drawing/2014/main" id="{71E41664-8118-407A-8FC9-020921082A12}"/>
              </a:ext>
            </a:extLst>
          </p:cNvPr>
          <p:cNvSpPr>
            <a:spLocks xmlns:a="http://schemas.openxmlformats.org/drawingml/2006/main" noGrp="1"/>
          </p:cNvSpPr>
          <p:nvPr/>
        </p:nvSpPr>
        <p:spPr>
          <a:xfrm xmlns:a="http://schemas.openxmlformats.org/drawingml/2006/main">
            <a:off x="1352550" y="742950"/>
            <a:ext cx="356235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94000"/>
              </a:lnSpc>
              <a:buNone/>
              <a:defRPr sz="6750" b="0" i="0">
                <a:solidFill>
                  <a:srgbClr val="FFFFFF"/>
                </a:solidFill>
                <a:latin typeface="Arial"/>
                <a:ea typeface="Arial"/>
                <a:cs typeface="Arial"/>
              </a:defRPr>
            </a:pPr>
            <a:r>
              <a:rPr sz="6750" b="0" i="0">
                <a:solidFill>
                  <a:srgbClr val="FFFFFF"/>
                </a:solidFill>
                <a:latin typeface="Arial"/>
                <a:ea typeface="Arial"/>
                <a:cs typeface="Arial"/>
              </a:rPr>
              <a:t>Not All Circular Loops Pay Off:</a:t>
            </a:r>
          </a:p>
          <a:p xmlns:a="http://schemas.openxmlformats.org/drawingml/2006/main">
            <a:pPr algn="l">
              <a:lnSpc>
                <a:spcPct val="94000"/>
              </a:lnSpc>
              <a:buNone/>
              <a:defRPr sz="6750" b="0" i="0">
                <a:solidFill>
                  <a:srgbClr val="FFFFFF"/>
                </a:solidFill>
                <a:latin typeface="Arial"/>
                <a:ea typeface="Arial"/>
                <a:cs typeface="Arial"/>
              </a:defRPr>
            </a:pPr>
            <a:r>
              <a:rPr sz="6750" b="0" i="0">
                <a:solidFill>
                  <a:srgbClr val="FFFFFF"/>
                </a:solidFill>
                <a:latin typeface="Arial"/>
                <a:ea typeface="Arial"/>
                <a:cs typeface="Arial"/>
              </a:rPr>
              <a:t>Product Loops Drive Profit, Energy Loops Cut Emissions</a:t>
            </a:r>
          </a:p>
        </p:txBody>
      </p:sp>
      <p:sp>
        <p:nvSpPr>
          <p:cNvPr id="3" name="">
            <a:extLst xmlns:a="http://schemas.openxmlformats.org/drawingml/2006/main">
              <a:ext uri="{FF2B5EF4-FFF2-40B4-BE49-F238E27FC236}">
                <a16:creationId xmlns:a16="http://schemas.microsoft.com/office/drawing/2014/main" id="{9216F42C-A6D3-4953-8D75-EAC947A6F118}"/>
              </a:ext>
            </a:extLst>
          </p:cNvPr>
          <p:cNvSpPr>
            <a:spLocks xmlns:a="http://schemas.openxmlformats.org/drawingml/2006/main" noGrp="1"/>
          </p:cNvSpPr>
          <p:nvPr/>
        </p:nvSpPr>
        <p:spPr>
          <a:xfrm xmlns:a="http://schemas.openxmlformats.org/drawingml/2006/main">
            <a:off x="1390650" y="3028950"/>
            <a:ext cx="2628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325" b="1" i="0">
                <a:solidFill>
                  <a:srgbClr val="FFFFFF"/>
                </a:solidFill>
                <a:latin typeface="Arial"/>
                <a:ea typeface="Arial"/>
                <a:cs typeface="Arial"/>
              </a:defRPr>
            </a:pPr>
            <a:r>
              <a:rPr sz="2325" b="1" i="0">
                <a:solidFill>
                  <a:srgbClr val="FFFFFF"/>
                </a:solidFill>
                <a:latin typeface="Arial"/>
                <a:ea typeface="Arial"/>
                <a:cs typeface="Arial"/>
              </a:rPr>
              <a:t>Evidence from a 365-day simulated dairy farm using ViCBio DM</a:t>
            </a:r>
          </a:p>
        </p:txBody>
      </p:sp>
      <p:sp>
        <p:nvSpPr>
          <p:cNvPr id="4" name="">
            <a:extLst xmlns:a="http://schemas.openxmlformats.org/drawingml/2006/main">
              <a:ext uri="{FF2B5EF4-FFF2-40B4-BE49-F238E27FC236}">
                <a16:creationId xmlns:a16="http://schemas.microsoft.com/office/drawing/2014/main" id="{5A8DB709-8809-4B4D-989C-0564A7F5D5C0}"/>
              </a:ext>
            </a:extLst>
          </p:cNvPr>
          <p:cNvSpPr>
            <a:spLocks xmlns:a="http://schemas.openxmlformats.org/drawingml/2006/main" noGrp="1"/>
          </p:cNvSpPr>
          <p:nvPr/>
        </p:nvSpPr>
        <p:spPr>
          <a:xfrm xmlns:a="http://schemas.openxmlformats.org/drawingml/2006/main">
            <a:off x="1390650" y="3571875"/>
            <a:ext cx="2876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100" b="1" i="0">
                <a:solidFill>
                  <a:srgbClr val="FFFFFF"/>
                </a:solidFill>
                <a:latin typeface="Arial"/>
                <a:ea typeface="Arial"/>
                <a:cs typeface="Arial"/>
              </a:defRPr>
            </a:pPr>
            <a:r>
              <a:rPr sz="2100" b="1" i="0">
                <a:solidFill>
                  <a:srgbClr val="FFFFFF"/>
                </a:solidFill>
                <a:latin typeface="Arial"/>
                <a:ea typeface="Arial"/>
                <a:cs typeface="Arial"/>
              </a:rPr>
              <a:t>Megha Poyyara Saiju¹   Manogna Rayala²   Karun Kaniyamattam¹</a:t>
            </a:r>
          </a:p>
        </p:txBody>
      </p:sp>
      <p:sp>
        <p:nvSpPr>
          <p:cNvPr id="5" name="">
            <a:extLst xmlns:a="http://schemas.openxmlformats.org/drawingml/2006/main">
              <a:ext uri="{FF2B5EF4-FFF2-40B4-BE49-F238E27FC236}">
                <a16:creationId xmlns:a16="http://schemas.microsoft.com/office/drawing/2014/main" id="{4D42AA50-8EA8-4BD6-8F50-8576308091D5}"/>
              </a:ext>
            </a:extLst>
          </p:cNvPr>
          <p:cNvSpPr>
            <a:spLocks xmlns:a="http://schemas.openxmlformats.org/drawingml/2006/main" noGrp="1"/>
          </p:cNvSpPr>
          <p:nvPr/>
        </p:nvSpPr>
        <p:spPr>
          <a:xfrm xmlns:a="http://schemas.openxmlformats.org/drawingml/2006/main">
            <a:off x="33813750" y="3562350"/>
            <a:ext cx="1414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r">
              <a:lnSpc>
                <a:spcPct val="103000"/>
              </a:lnSpc>
              <a:buNone/>
              <a:defRPr sz="1800" b="0" i="0">
                <a:solidFill>
                  <a:srgbClr val="FFFFFF"/>
                </a:solidFill>
                <a:latin typeface="Arial"/>
                <a:ea typeface="Arial"/>
                <a:cs typeface="Arial"/>
              </a:defRPr>
            </a:pPr>
            <a:r>
              <a:rPr sz="1800" b="0" i="0">
                <a:solidFill>
                  <a:srgbClr val="FFFFFF"/>
                </a:solidFill>
                <a:latin typeface="Arial"/>
                <a:ea typeface="Arial"/>
                <a:cs typeface="Arial"/>
              </a:rPr>
              <a:t>¹Department of Animal Science   ²Department of Statistics   Texas A&amp;M University</a:t>
            </a:r>
          </a:p>
        </p:txBody>
      </p:sp>
      <p:sp>
        <p:nvSpPr>
          <p:cNvPr id="6" name="Why this matters-heading">
            <a:extLst xmlns:a="http://schemas.openxmlformats.org/drawingml/2006/main">
              <a:ext uri="{FF2B5EF4-FFF2-40B4-BE49-F238E27FC236}">
                <a16:creationId xmlns:a16="http://schemas.microsoft.com/office/drawing/2014/main" id="{FD429AA2-8D4E-47D0-B010-C4E4549F93C7}"/>
              </a:ext>
            </a:extLst>
          </p:cNvPr>
          <p:cNvSpPr>
            <a:spLocks xmlns:a="http://schemas.openxmlformats.org/drawingml/2006/main" noGrp="1"/>
          </p:cNvSpPr>
          <p:nvPr/>
        </p:nvSpPr>
        <p:spPr>
          <a:xfrm xmlns:a="http://schemas.openxmlformats.org/drawingml/2006/main">
            <a:off x="1381125" y="5314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850" b="1" i="0">
                <a:solidFill>
                  <a:srgbClr val="651B1B"/>
                </a:solidFill>
                <a:latin typeface="Arial"/>
                <a:ea typeface="Arial"/>
                <a:cs typeface="Arial"/>
              </a:defRPr>
            </a:pPr>
            <a:r>
              <a:rPr sz="2850" b="1" i="0">
                <a:solidFill>
                  <a:srgbClr val="651B1B"/>
                </a:solidFill>
                <a:latin typeface="Arial"/>
                <a:ea typeface="Arial"/>
                <a:cs typeface="Arial"/>
              </a:rPr>
              <a:t>Why this matters</a:t>
            </a:r>
          </a:p>
        </p:txBody>
      </p:sp>
      <p:sp>
        <p:nvSpPr>
          <p:cNvPr id="7" name="">
            <a:extLst xmlns:a="http://schemas.openxmlformats.org/drawingml/2006/main">
              <a:ext uri="{FF2B5EF4-FFF2-40B4-BE49-F238E27FC236}">
                <a16:creationId xmlns:a16="http://schemas.microsoft.com/office/drawing/2014/main" id="{1546BE33-7143-415B-B3C1-3A863EBAD935}"/>
              </a:ext>
            </a:extLst>
          </p:cNvPr>
          <p:cNvSpPr>
            <a:spLocks xmlns:a="http://schemas.openxmlformats.org/drawingml/2006/main" noGrp="1"/>
          </p:cNvSpPr>
          <p:nvPr/>
        </p:nvSpPr>
        <p:spPr>
          <a:xfrm xmlns:a="http://schemas.openxmlformats.org/drawingml/2006/main">
            <a:off x="1381125" y="590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4000"/>
              </a:lnSpc>
              <a:buNone/>
              <a:defRPr sz="2325" b="0" i="0">
                <a:solidFill>
                  <a:srgbClr val="1D1D1D"/>
                </a:solidFill>
                <a:latin typeface="Arial"/>
                <a:ea typeface="Arial"/>
                <a:cs typeface="Arial"/>
              </a:defRPr>
            </a:pPr>
            <a:r>
              <a:rPr sz="2325" b="0" i="0">
                <a:solidFill>
                  <a:srgbClr val="1D1D1D"/>
                </a:solidFill>
                <a:latin typeface="Arial"/>
                <a:ea typeface="Arial"/>
                <a:cs typeface="Arial"/>
              </a:rPr>
              <a:t>Feed accounts for 46% of specialized dairy production costs, while U.S. milk sales reached $52.8 billion in 2022. Farms need to know which circular technologies recover enough value to justify further testing. Most studies evaluate nutrient, water, energy, and product recovery separately. ViCBio DM runs all four routes within the same herd and shared resource balance, using one consistent price set.</a:t>
            </a:r>
          </a:p>
        </p:txBody>
      </p:sp>
      <p:sp>
        <p:nvSpPr>
          <p:cNvPr id="8" name="Research question and expectation-heading">
            <a:extLst xmlns:a="http://schemas.openxmlformats.org/drawingml/2006/main">
              <a:ext uri="{FF2B5EF4-FFF2-40B4-BE49-F238E27FC236}">
                <a16:creationId xmlns:a16="http://schemas.microsoft.com/office/drawing/2014/main" id="{D5B1928E-9807-49D9-B23A-38DA06AC90C6}"/>
              </a:ext>
            </a:extLst>
          </p:cNvPr>
          <p:cNvSpPr>
            <a:spLocks xmlns:a="http://schemas.openxmlformats.org/drawingml/2006/main" noGrp="1"/>
          </p:cNvSpPr>
          <p:nvPr/>
        </p:nvSpPr>
        <p:spPr>
          <a:xfrm xmlns:a="http://schemas.openxmlformats.org/drawingml/2006/main">
            <a:off x="1381125" y="9829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850" b="1" i="0">
                <a:solidFill>
                  <a:srgbClr val="651B1B"/>
                </a:solidFill>
                <a:latin typeface="Arial"/>
                <a:ea typeface="Arial"/>
                <a:cs typeface="Arial"/>
              </a:defRPr>
            </a:pPr>
            <a:r>
              <a:rPr sz="2850" b="1" i="0">
                <a:solidFill>
                  <a:srgbClr val="651B1B"/>
                </a:solidFill>
                <a:latin typeface="Arial"/>
                <a:ea typeface="Arial"/>
                <a:cs typeface="Arial"/>
              </a:rPr>
              <a:t>Research question and expectation</a:t>
            </a:r>
          </a:p>
        </p:txBody>
      </p:sp>
      <p:sp>
        <p:nvSpPr>
          <p:cNvPr id="9" name="">
            <a:extLst xmlns:a="http://schemas.openxmlformats.org/drawingml/2006/main">
              <a:ext uri="{FF2B5EF4-FFF2-40B4-BE49-F238E27FC236}">
                <a16:creationId xmlns:a16="http://schemas.microsoft.com/office/drawing/2014/main" id="{D006E34B-D22B-40C7-A6C8-617176E7A62B}"/>
              </a:ext>
            </a:extLst>
          </p:cNvPr>
          <p:cNvSpPr>
            <a:spLocks xmlns:a="http://schemas.openxmlformats.org/drawingml/2006/main" noGrp="1"/>
          </p:cNvSpPr>
          <p:nvPr/>
        </p:nvSpPr>
        <p:spPr>
          <a:xfrm xmlns:a="http://schemas.openxmlformats.org/drawingml/2006/main">
            <a:off x="1381125" y="10420350"/>
            <a:ext cx="10668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4000"/>
              </a:lnSpc>
              <a:buNone/>
              <a:defRPr sz="2325" b="0" i="0">
                <a:solidFill>
                  <a:srgbClr val="1D1D1D"/>
                </a:solidFill>
                <a:latin typeface="Arial"/>
                <a:ea typeface="Arial"/>
                <a:cs typeface="Arial"/>
              </a:defRPr>
            </a:pPr>
            <a:r>
              <a:rPr sz="2325" b="0" i="0">
                <a:solidFill>
                  <a:srgbClr val="1D1D1D"/>
                </a:solidFill>
                <a:latin typeface="Arial"/>
                <a:ea typeface="Arial"/>
                <a:cs typeface="Arial"/>
              </a:rPr>
              <a:t>We asked which loops materially change profit or environmental performance when all four draw on the same farm resources. We expected the energy and product loops to dominate because they create priced outputs. Nutrient and water recovery would matter most when feed or freshwater became limiting.</a:t>
            </a:r>
          </a:p>
        </p:txBody>
      </p:sp>
      <p:sp>
        <p:nvSpPr>
          <p:cNvPr id="10" name="ViCBio DM architecture-heading">
            <a:extLst xmlns:a="http://schemas.openxmlformats.org/drawingml/2006/main">
              <a:ext uri="{FF2B5EF4-FFF2-40B4-BE49-F238E27FC236}">
                <a16:creationId xmlns:a16="http://schemas.microsoft.com/office/drawing/2014/main" id="{B7BC1032-5729-450E-B0CF-73342672A8A5}"/>
              </a:ext>
            </a:extLst>
          </p:cNvPr>
          <p:cNvSpPr>
            <a:spLocks xmlns:a="http://schemas.openxmlformats.org/drawingml/2006/main" noGrp="1"/>
          </p:cNvSpPr>
          <p:nvPr/>
        </p:nvSpPr>
        <p:spPr>
          <a:xfrm xmlns:a="http://schemas.openxmlformats.org/drawingml/2006/main">
            <a:off x="1381125" y="139065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850" b="1" i="0">
                <a:solidFill>
                  <a:srgbClr val="651B1B"/>
                </a:solidFill>
                <a:latin typeface="Arial"/>
                <a:ea typeface="Arial"/>
                <a:cs typeface="Arial"/>
              </a:defRPr>
            </a:pPr>
            <a:r>
              <a:rPr sz="2850" b="1" i="0">
                <a:solidFill>
                  <a:srgbClr val="651B1B"/>
                </a:solidFill>
                <a:latin typeface="Arial"/>
                <a:ea typeface="Arial"/>
                <a:cs typeface="Arial"/>
              </a:rPr>
              <a:t>ViCBio DM architecture</a:t>
            </a:r>
          </a:p>
        </p:txBody>
      </p:sp>
      <p:sp>
        <p:nvSpPr>
          <p:cNvPr id="11" name="">
            <a:extLst xmlns:a="http://schemas.openxmlformats.org/drawingml/2006/main">
              <a:ext uri="{FF2B5EF4-FFF2-40B4-BE49-F238E27FC236}">
                <a16:creationId xmlns:a16="http://schemas.microsoft.com/office/drawing/2014/main" id="{6D8D647C-361C-410D-B7C9-95D76D35B6AE}"/>
              </a:ext>
            </a:extLst>
          </p:cNvPr>
          <p:cNvSpPr>
            <a:spLocks xmlns:a="http://schemas.openxmlformats.org/drawingml/2006/main" noGrp="1"/>
          </p:cNvSpPr>
          <p:nvPr/>
        </p:nvSpPr>
        <p:spPr>
          <a:xfrm xmlns:a="http://schemas.openxmlformats.org/drawingml/2006/main">
            <a:off x="1381125" y="14478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3000"/>
              </a:lnSpc>
              <a:buNone/>
              <a:defRPr sz="1800" b="0" i="0">
                <a:solidFill>
                  <a:srgbClr val="5C5C5C"/>
                </a:solidFill>
                <a:latin typeface="Arial"/>
                <a:ea typeface="Arial"/>
                <a:cs typeface="Arial"/>
              </a:defRPr>
            </a:pPr>
            <a:r>
              <a:rPr sz="1800" b="0" i="0">
                <a:solidFill>
                  <a:srgbClr val="5C5C5C"/>
                </a:solidFill>
                <a:latin typeface="Arial"/>
                <a:ea typeface="Arial"/>
                <a:cs typeface="Arial"/>
              </a:rPr>
              <a:t>13 linked components with fixed daily order and seeded stochastic replay</a:t>
            </a:r>
          </a:p>
        </p:txBody>
      </p:sp>
      <p:sp>
        <p:nvSpPr>
          <p:cNvPr id="12" name="">
            <a:extLst xmlns:a="http://schemas.openxmlformats.org/drawingml/2006/main">
              <a:ext uri="{FF2B5EF4-FFF2-40B4-BE49-F238E27FC236}">
                <a16:creationId xmlns:a16="http://schemas.microsoft.com/office/drawing/2014/main" id="{B1D51061-4270-4C1A-98D7-8EB1A8C34EAE}"/>
              </a:ext>
            </a:extLst>
          </p:cNvPr>
          <p:cNvSpPr>
            <a:spLocks xmlns:a="http://schemas.openxmlformats.org/drawingml/2006/main" noGrp="1"/>
          </p:cNvSpPr>
          <p:nvPr/>
        </p:nvSpPr>
        <p:spPr>
          <a:xfrm xmlns:a="http://schemas.openxmlformats.org/drawingml/2006/main">
            <a:off x="2371725" y="15068550"/>
            <a:ext cx="6572250" cy="781050"/>
          </a:xfrm>
          <a:prstGeom xmlns:a="http://schemas.openxmlformats.org/drawingml/2006/main" prst="roundRect">
            <a:avLst>
              <a:gd name="adj" fmla="val 9756"/>
            </a:avLst>
          </a:prstGeom>
          <a:solidFill xmlns:a="http://schemas.openxmlformats.org/drawingml/2006/main">
            <a:srgbClr val="D7D7D7"/>
          </a:solidFill>
          <a:ln xmlns:a="http://schemas.openxmlformats.org/drawingml/2006/main" w="7620">
            <a:solidFill>
              <a:srgbClr val="D7D7D7"/>
            </a:solidFill>
            <a:prstDash val="solid"/>
          </a:ln>
        </p:spPr>
        <p:txBody>
          <a:bodyPr xmlns:a="http://schemas.openxmlformats.org/drawingml/2006/main" lIns="76200" tIns="47625" rIns="76200" bIns="47625" anchor="ctr">
            <a:noAutofit/>
          </a:bodyPr>
          <a:lstStyle xmlns:a="http://schemas.openxmlformats.org/drawingml/2006/main"/>
          <a:p xmlns:a="http://schemas.openxmlformats.org/drawingml/2006/main">
            <a:pPr algn="ctr">
              <a:defRPr sz="1875" b="1">
                <a:solidFill>
                  <a:srgbClr val="1D1D1D"/>
                </a:solidFill>
                <a:latin typeface="Arial"/>
                <a:ea typeface="Arial"/>
                <a:cs typeface="Arial"/>
              </a:defRPr>
            </a:pPr>
            <a:r>
              <a:rPr sz="1875" b="1">
                <a:solidFill>
                  <a:srgbClr val="1D1D1D"/>
                </a:solidFill>
                <a:latin typeface="Arial"/>
                <a:ea typeface="Arial"/>
                <a:cs typeface="Arial"/>
              </a:rPr>
              <a:t>Market + sensors</a:t>
            </a:r>
          </a:p>
        </p:txBody>
      </p:sp>
      <p:sp>
        <p:nvSpPr>
          <p:cNvPr id="13" name="">
            <a:extLst xmlns:a="http://schemas.openxmlformats.org/drawingml/2006/main">
              <a:ext uri="{FF2B5EF4-FFF2-40B4-BE49-F238E27FC236}">
                <a16:creationId xmlns:a16="http://schemas.microsoft.com/office/drawing/2014/main" id="{8287548B-3A93-4F5D-BC25-C9CD47F56DF0}"/>
              </a:ext>
            </a:extLst>
          </p:cNvPr>
          <p:cNvSpPr>
            <a:spLocks xmlns:a="http://schemas.openxmlformats.org/drawingml/2006/main" noGrp="1"/>
          </p:cNvSpPr>
          <p:nvPr/>
        </p:nvSpPr>
        <p:spPr>
          <a:xfrm xmlns:a="http://schemas.openxmlformats.org/drawingml/2006/main">
            <a:off x="2371725" y="16192500"/>
            <a:ext cx="6572250" cy="781050"/>
          </a:xfrm>
          <a:prstGeom xmlns:a="http://schemas.openxmlformats.org/drawingml/2006/main" prst="roundRect">
            <a:avLst>
              <a:gd name="adj" fmla="val 9756"/>
            </a:avLst>
          </a:prstGeom>
          <a:solidFill xmlns:a="http://schemas.openxmlformats.org/drawingml/2006/main">
            <a:srgbClr val="D7D7D7"/>
          </a:solidFill>
          <a:ln xmlns:a="http://schemas.openxmlformats.org/drawingml/2006/main" w="7620">
            <a:solidFill>
              <a:srgbClr val="D7D7D7"/>
            </a:solidFill>
            <a:prstDash val="solid"/>
          </a:ln>
        </p:spPr>
        <p:txBody>
          <a:bodyPr xmlns:a="http://schemas.openxmlformats.org/drawingml/2006/main" lIns="76200" tIns="47625" rIns="76200" bIns="47625" anchor="ctr">
            <a:noAutofit/>
          </a:bodyPr>
          <a:lstStyle xmlns:a="http://schemas.openxmlformats.org/drawingml/2006/main"/>
          <a:p xmlns:a="http://schemas.openxmlformats.org/drawingml/2006/main">
            <a:pPr algn="ctr">
              <a:defRPr sz="1875" b="1">
                <a:solidFill>
                  <a:srgbClr val="1D1D1D"/>
                </a:solidFill>
                <a:latin typeface="Arial"/>
                <a:ea typeface="Arial"/>
                <a:cs typeface="Arial"/>
              </a:defRPr>
            </a:pPr>
            <a:r>
              <a:rPr sz="1875" b="1">
                <a:solidFill>
                  <a:srgbClr val="1D1D1D"/>
                </a:solidFill>
                <a:latin typeface="Arial"/>
                <a:ea typeface="Arial"/>
                <a:cs typeface="Arial"/>
              </a:rPr>
              <a:t>Land + feed/crop</a:t>
            </a:r>
          </a:p>
        </p:txBody>
      </p:sp>
      <p:sp>
        <p:nvSpPr>
          <p:cNvPr id="14" name="">
            <a:extLst xmlns:a="http://schemas.openxmlformats.org/drawingml/2006/main">
              <a:ext uri="{FF2B5EF4-FFF2-40B4-BE49-F238E27FC236}">
                <a16:creationId xmlns:a16="http://schemas.microsoft.com/office/drawing/2014/main" id="{C2D9CDD8-8044-4700-B264-593245FA822F}"/>
              </a:ext>
            </a:extLst>
          </p:cNvPr>
          <p:cNvSpPr>
            <a:spLocks xmlns:a="http://schemas.openxmlformats.org/drawingml/2006/main" noGrp="1"/>
          </p:cNvSpPr>
          <p:nvPr/>
        </p:nvSpPr>
        <p:spPr>
          <a:xfrm xmlns:a="http://schemas.openxmlformats.org/drawingml/2006/main">
            <a:off x="2371725" y="17316450"/>
            <a:ext cx="6572250" cy="781050"/>
          </a:xfrm>
          <a:prstGeom xmlns:a="http://schemas.openxmlformats.org/drawingml/2006/main" prst="roundRect">
            <a:avLst>
              <a:gd name="adj" fmla="val 9756"/>
            </a:avLst>
          </a:prstGeom>
          <a:solidFill xmlns:a="http://schemas.openxmlformats.org/drawingml/2006/main">
            <a:srgbClr val="D7D7D7"/>
          </a:solidFill>
          <a:ln xmlns:a="http://schemas.openxmlformats.org/drawingml/2006/main" w="7620">
            <a:solidFill>
              <a:srgbClr val="D7D7D7"/>
            </a:solidFill>
            <a:prstDash val="solid"/>
          </a:ln>
        </p:spPr>
        <p:txBody>
          <a:bodyPr xmlns:a="http://schemas.openxmlformats.org/drawingml/2006/main" lIns="76200" tIns="47625" rIns="76200" bIns="47625" anchor="ctr">
            <a:noAutofit/>
          </a:bodyPr>
          <a:lstStyle xmlns:a="http://schemas.openxmlformats.org/drawingml/2006/main"/>
          <a:p xmlns:a="http://schemas.openxmlformats.org/drawingml/2006/main">
            <a:pPr algn="ctr">
              <a:defRPr sz="1875" b="1">
                <a:solidFill>
                  <a:srgbClr val="1D1D1D"/>
                </a:solidFill>
                <a:latin typeface="Arial"/>
                <a:ea typeface="Arial"/>
                <a:cs typeface="Arial"/>
              </a:defRPr>
            </a:pPr>
            <a:r>
              <a:rPr sz="1875" b="1">
                <a:solidFill>
                  <a:srgbClr val="1D1D1D"/>
                </a:solidFill>
                <a:latin typeface="Arial"/>
                <a:ea typeface="Arial"/>
                <a:cs typeface="Arial"/>
              </a:rPr>
              <a:t>Individual cows + disease</a:t>
            </a:r>
          </a:p>
        </p:txBody>
      </p:sp>
      <p:sp>
        <p:nvSpPr>
          <p:cNvPr id="15" name="">
            <a:extLst xmlns:a="http://schemas.openxmlformats.org/drawingml/2006/main">
              <a:ext uri="{FF2B5EF4-FFF2-40B4-BE49-F238E27FC236}">
                <a16:creationId xmlns:a16="http://schemas.microsoft.com/office/drawing/2014/main" id="{AA74813E-C0DF-4387-84EE-BBD0ED3F66A1}"/>
              </a:ext>
            </a:extLst>
          </p:cNvPr>
          <p:cNvSpPr>
            <a:spLocks xmlns:a="http://schemas.openxmlformats.org/drawingml/2006/main" noGrp="1"/>
          </p:cNvSpPr>
          <p:nvPr/>
        </p:nvSpPr>
        <p:spPr>
          <a:xfrm xmlns:a="http://schemas.openxmlformats.org/drawingml/2006/main">
            <a:off x="2371725" y="18440400"/>
            <a:ext cx="6572250" cy="781050"/>
          </a:xfrm>
          <a:prstGeom xmlns:a="http://schemas.openxmlformats.org/drawingml/2006/main" prst="roundRect">
            <a:avLst>
              <a:gd name="adj" fmla="val 9756"/>
            </a:avLst>
          </a:prstGeom>
          <a:solidFill xmlns:a="http://schemas.openxmlformats.org/drawingml/2006/main">
            <a:srgbClr val="D7D7D7"/>
          </a:solidFill>
          <a:ln xmlns:a="http://schemas.openxmlformats.org/drawingml/2006/main" w="7620">
            <a:solidFill>
              <a:srgbClr val="D7D7D7"/>
            </a:solidFill>
            <a:prstDash val="solid"/>
          </a:ln>
        </p:spPr>
        <p:txBody>
          <a:bodyPr xmlns:a="http://schemas.openxmlformats.org/drawingml/2006/main" lIns="76200" tIns="47625" rIns="76200" bIns="47625" anchor="ctr">
            <a:noAutofit/>
          </a:bodyPr>
          <a:lstStyle xmlns:a="http://schemas.openxmlformats.org/drawingml/2006/main"/>
          <a:p xmlns:a="http://schemas.openxmlformats.org/drawingml/2006/main">
            <a:pPr algn="ctr">
              <a:defRPr sz="1875" b="1">
                <a:solidFill>
                  <a:srgbClr val="1D1D1D"/>
                </a:solidFill>
                <a:latin typeface="Arial"/>
                <a:ea typeface="Arial"/>
                <a:cs typeface="Arial"/>
              </a:defRPr>
            </a:pPr>
            <a:r>
              <a:rPr sz="1875" b="1">
                <a:solidFill>
                  <a:srgbClr val="1D1D1D"/>
                </a:solidFill>
                <a:latin typeface="Arial"/>
                <a:ea typeface="Arial"/>
                <a:cs typeface="Arial"/>
              </a:rPr>
              <a:t>Processing + manure routing</a:t>
            </a:r>
          </a:p>
        </p:txBody>
      </p:sp>
      <p:sp>
        <p:nvSpPr>
          <p:cNvPr id="16" name="">
            <a:extLst xmlns:a="http://schemas.openxmlformats.org/drawingml/2006/main">
              <a:ext uri="{FF2B5EF4-FFF2-40B4-BE49-F238E27FC236}">
                <a16:creationId xmlns:a16="http://schemas.microsoft.com/office/drawing/2014/main" id="{889EB3D3-825C-4EF2-BC2A-2ABC6803D14A}"/>
              </a:ext>
            </a:extLst>
          </p:cNvPr>
          <p:cNvSpPr>
            <a:spLocks xmlns:a="http://schemas.openxmlformats.org/drawingml/2006/main" noGrp="1"/>
          </p:cNvSpPr>
          <p:nvPr/>
        </p:nvSpPr>
        <p:spPr>
          <a:xfrm xmlns:a="http://schemas.openxmlformats.org/drawingml/2006/main">
            <a:off x="2371725" y="19564350"/>
            <a:ext cx="6572250" cy="781050"/>
          </a:xfrm>
          <a:prstGeom xmlns:a="http://schemas.openxmlformats.org/drawingml/2006/main" prst="roundRect">
            <a:avLst>
              <a:gd name="adj" fmla="val 9756"/>
            </a:avLst>
          </a:prstGeom>
          <a:solidFill xmlns:a="http://schemas.openxmlformats.org/drawingml/2006/main">
            <a:srgbClr val="D7D7D7"/>
          </a:solidFill>
          <a:ln xmlns:a="http://schemas.openxmlformats.org/drawingml/2006/main" w="7620">
            <a:solidFill>
              <a:srgbClr val="D7D7D7"/>
            </a:solidFill>
            <a:prstDash val="solid"/>
          </a:ln>
        </p:spPr>
        <p:txBody>
          <a:bodyPr xmlns:a="http://schemas.openxmlformats.org/drawingml/2006/main" lIns="76200" tIns="47625" rIns="76200" bIns="47625" anchor="ctr">
            <a:noAutofit/>
          </a:bodyPr>
          <a:lstStyle xmlns:a="http://schemas.openxmlformats.org/drawingml/2006/main"/>
          <a:p xmlns:a="http://schemas.openxmlformats.org/drawingml/2006/main">
            <a:pPr algn="ctr">
              <a:defRPr sz="1875" b="1">
                <a:solidFill>
                  <a:srgbClr val="1D1D1D"/>
                </a:solidFill>
                <a:latin typeface="Arial"/>
                <a:ea typeface="Arial"/>
                <a:cs typeface="Arial"/>
              </a:defRPr>
            </a:pPr>
            <a:r>
              <a:rPr sz="1875" b="1">
                <a:solidFill>
                  <a:srgbClr val="1D1D1D"/>
                </a:solidFill>
                <a:latin typeface="Arial"/>
                <a:ea typeface="Arial"/>
                <a:cs typeface="Arial"/>
              </a:rPr>
              <a:t>Energy + water accounting</a:t>
            </a:r>
          </a:p>
        </p:txBody>
      </p:sp>
      <p:sp>
        <p:nvSpPr>
          <p:cNvPr id="17" name="">
            <a:extLst xmlns:a="http://schemas.openxmlformats.org/drawingml/2006/main">
              <a:ext uri="{FF2B5EF4-FFF2-40B4-BE49-F238E27FC236}">
                <a16:creationId xmlns:a16="http://schemas.microsoft.com/office/drawing/2014/main" id="{8A15B54F-8D68-4250-8F55-B74A456231FF}"/>
              </a:ext>
            </a:extLst>
          </p:cNvPr>
          <p:cNvSpPr>
            <a:spLocks xmlns:a="http://schemas.openxmlformats.org/drawingml/2006/main" noGrp="1"/>
          </p:cNvSpPr>
          <p:nvPr/>
        </p:nvSpPr>
        <p:spPr>
          <a:xfrm xmlns:a="http://schemas.openxmlformats.org/drawingml/2006/main">
            <a:off x="2371725" y="20688300"/>
            <a:ext cx="6572250" cy="781050"/>
          </a:xfrm>
          <a:prstGeom xmlns:a="http://schemas.openxmlformats.org/drawingml/2006/main" prst="roundRect">
            <a:avLst>
              <a:gd name="adj" fmla="val 9756"/>
            </a:avLst>
          </a:prstGeom>
          <a:solidFill xmlns:a="http://schemas.openxmlformats.org/drawingml/2006/main">
            <a:srgbClr val="D7D7D7"/>
          </a:solidFill>
          <a:ln xmlns:a="http://schemas.openxmlformats.org/drawingml/2006/main" w="7620">
            <a:solidFill>
              <a:srgbClr val="D7D7D7"/>
            </a:solidFill>
            <a:prstDash val="solid"/>
          </a:ln>
        </p:spPr>
        <p:txBody>
          <a:bodyPr xmlns:a="http://schemas.openxmlformats.org/drawingml/2006/main" lIns="76200" tIns="47625" rIns="76200" bIns="47625" anchor="ctr">
            <a:noAutofit/>
          </a:bodyPr>
          <a:lstStyle xmlns:a="http://schemas.openxmlformats.org/drawingml/2006/main"/>
          <a:p xmlns:a="http://schemas.openxmlformats.org/drawingml/2006/main">
            <a:pPr algn="ctr">
              <a:defRPr sz="1875" b="1">
                <a:solidFill>
                  <a:srgbClr val="1D1D1D"/>
                </a:solidFill>
                <a:latin typeface="Arial"/>
                <a:ea typeface="Arial"/>
                <a:cs typeface="Arial"/>
              </a:defRPr>
            </a:pPr>
            <a:r>
              <a:rPr sz="1875" b="1">
                <a:solidFill>
                  <a:srgbClr val="1D1D1D"/>
                </a:solidFill>
                <a:latin typeface="Arial"/>
                <a:ea typeface="Arial"/>
                <a:cs typeface="Arial"/>
              </a:rPr>
              <a:t>Environment + farm manager</a:t>
            </a:r>
          </a:p>
        </p:txBody>
      </p:sp>
      <p:cxnSp>
        <p:nvCxnSpPr>
          <p:cNvPr id="82" name=""/>
          <p:cNvCxnSpPr>
            <a:stCxn xmlns:a="http://schemas.openxmlformats.org/drawingml/2006/main" id="12" idx="2"/>
            <a:endCxn xmlns:a="http://schemas.openxmlformats.org/drawingml/2006/main" id="13" idx="0"/>
          </p:cNvCxnSpPr>
          <p:nvPr/>
        </p:nvCxnSpPr>
        <p:spPr>
          <a:xfrm xmlns:a="http://schemas.openxmlformats.org/drawingml/2006/main">
            <a:off x="5657850" y="15849600"/>
            <a:ext cx="0" cy="342900"/>
          </a:xfrm>
          <a:prstGeom xmlns:a="http://schemas.openxmlformats.org/drawingml/2006/main" prst="straightConnector1">
            <a:avLst/>
          </a:prstGeom>
          <a:ln xmlns:a="http://schemas.openxmlformats.org/drawingml/2006/main" w="19050">
            <a:solidFill>
              <a:srgbClr val="A8A39B"/>
            </a:solidFill>
            <a:prstDash val="solid"/>
            <a:headEnd type="triangle" w="sm" len="sm"/>
          </a:ln>
        </p:spPr>
      </p:cxnSp>
      <p:cxnSp>
        <p:nvCxnSpPr>
          <p:cNvPr id="83" name=""/>
          <p:cNvCxnSpPr>
            <a:stCxn xmlns:a="http://schemas.openxmlformats.org/drawingml/2006/main" id="13" idx="2"/>
            <a:endCxn xmlns:a="http://schemas.openxmlformats.org/drawingml/2006/main" id="14" idx="0"/>
          </p:cNvCxnSpPr>
          <p:nvPr/>
        </p:nvCxnSpPr>
        <p:spPr>
          <a:xfrm xmlns:a="http://schemas.openxmlformats.org/drawingml/2006/main">
            <a:off x="5657850" y="16973550"/>
            <a:ext cx="0" cy="342900"/>
          </a:xfrm>
          <a:prstGeom xmlns:a="http://schemas.openxmlformats.org/drawingml/2006/main" prst="straightConnector1">
            <a:avLst/>
          </a:prstGeom>
          <a:ln xmlns:a="http://schemas.openxmlformats.org/drawingml/2006/main" w="19050">
            <a:solidFill>
              <a:srgbClr val="A8A39B"/>
            </a:solidFill>
            <a:prstDash val="solid"/>
            <a:headEnd type="triangle" w="sm" len="sm"/>
          </a:ln>
        </p:spPr>
      </p:cxnSp>
      <p:cxnSp>
        <p:nvCxnSpPr>
          <p:cNvPr id="84" name=""/>
          <p:cNvCxnSpPr>
            <a:stCxn xmlns:a="http://schemas.openxmlformats.org/drawingml/2006/main" id="14" idx="2"/>
            <a:endCxn xmlns:a="http://schemas.openxmlformats.org/drawingml/2006/main" id="15" idx="0"/>
          </p:cNvCxnSpPr>
          <p:nvPr/>
        </p:nvCxnSpPr>
        <p:spPr>
          <a:xfrm xmlns:a="http://schemas.openxmlformats.org/drawingml/2006/main">
            <a:off x="5657850" y="18097500"/>
            <a:ext cx="0" cy="342900"/>
          </a:xfrm>
          <a:prstGeom xmlns:a="http://schemas.openxmlformats.org/drawingml/2006/main" prst="straightConnector1">
            <a:avLst/>
          </a:prstGeom>
          <a:ln xmlns:a="http://schemas.openxmlformats.org/drawingml/2006/main" w="19050">
            <a:solidFill>
              <a:srgbClr val="A8A39B"/>
            </a:solidFill>
            <a:prstDash val="solid"/>
            <a:headEnd type="triangle" w="sm" len="sm"/>
          </a:ln>
        </p:spPr>
      </p:cxnSp>
      <p:cxnSp>
        <p:nvCxnSpPr>
          <p:cNvPr id="85" name=""/>
          <p:cNvCxnSpPr>
            <a:stCxn xmlns:a="http://schemas.openxmlformats.org/drawingml/2006/main" id="15" idx="2"/>
            <a:endCxn xmlns:a="http://schemas.openxmlformats.org/drawingml/2006/main" id="16" idx="0"/>
          </p:cNvCxnSpPr>
          <p:nvPr/>
        </p:nvCxnSpPr>
        <p:spPr>
          <a:xfrm xmlns:a="http://schemas.openxmlformats.org/drawingml/2006/main">
            <a:off x="5657850" y="19221450"/>
            <a:ext cx="0" cy="342900"/>
          </a:xfrm>
          <a:prstGeom xmlns:a="http://schemas.openxmlformats.org/drawingml/2006/main" prst="straightConnector1">
            <a:avLst/>
          </a:prstGeom>
          <a:ln xmlns:a="http://schemas.openxmlformats.org/drawingml/2006/main" w="19050">
            <a:solidFill>
              <a:srgbClr val="A8A39B"/>
            </a:solidFill>
            <a:prstDash val="solid"/>
            <a:headEnd type="triangle" w="sm" len="sm"/>
          </a:ln>
        </p:spPr>
      </p:cxnSp>
      <p:cxnSp>
        <p:nvCxnSpPr>
          <p:cNvPr id="86" name=""/>
          <p:cNvCxnSpPr>
            <a:stCxn xmlns:a="http://schemas.openxmlformats.org/drawingml/2006/main" id="16" idx="2"/>
            <a:endCxn xmlns:a="http://schemas.openxmlformats.org/drawingml/2006/main" id="17" idx="0"/>
          </p:cNvCxnSpPr>
          <p:nvPr/>
        </p:nvCxnSpPr>
        <p:spPr>
          <a:xfrm xmlns:a="http://schemas.openxmlformats.org/drawingml/2006/main">
            <a:off x="5657850" y="20345400"/>
            <a:ext cx="0" cy="342900"/>
          </a:xfrm>
          <a:prstGeom xmlns:a="http://schemas.openxmlformats.org/drawingml/2006/main" prst="straightConnector1">
            <a:avLst/>
          </a:prstGeom>
          <a:ln xmlns:a="http://schemas.openxmlformats.org/drawingml/2006/main" w="19050">
            <a:solidFill>
              <a:srgbClr val="A8A39B"/>
            </a:solidFill>
            <a:prstDash val="solid"/>
            <a:headEnd type="triangle" w="sm" len="sm"/>
          </a:ln>
        </p:spPr>
      </p:cxnSp>
      <p:sp>
        <p:nvSpPr>
          <p:cNvPr id="23" name="">
            <a:extLst xmlns:a="http://schemas.openxmlformats.org/drawingml/2006/main">
              <a:ext uri="{FF2B5EF4-FFF2-40B4-BE49-F238E27FC236}">
                <a16:creationId xmlns:a16="http://schemas.microsoft.com/office/drawing/2014/main" id="{4557E5F9-D876-4440-B858-9BCB196CF946}"/>
              </a:ext>
            </a:extLst>
          </p:cNvPr>
          <p:cNvSpPr>
            <a:spLocks xmlns:a="http://schemas.openxmlformats.org/drawingml/2006/main" noGrp="1"/>
          </p:cNvSpPr>
          <p:nvPr/>
        </p:nvSpPr>
        <p:spPr>
          <a:xfrm xmlns:a="http://schemas.openxmlformats.org/drawingml/2006/main">
            <a:off x="9477375" y="18602325"/>
            <a:ext cx="1028700" cy="457200"/>
          </a:xfrm>
          <a:prstGeom xmlns:a="http://schemas.openxmlformats.org/drawingml/2006/main" prst="roundRect">
            <a:avLst>
              <a:gd name="adj" fmla="val 16667"/>
            </a:avLst>
          </a:prstGeom>
          <a:solidFill xmlns:a="http://schemas.openxmlformats.org/drawingml/2006/main">
            <a:srgbClr val="651B1B"/>
          </a:solidFill>
          <a:ln xmlns:a="http://schemas.openxmlformats.org/drawingml/2006/main" w="0">
            <a:noFill/>
          </a:ln>
        </p:spPr>
        <p:txBody>
          <a:bodyPr xmlns:a="http://schemas.openxmlformats.org/drawingml/2006/main" lIns="38100" tIns="28575" rIns="38100" bIns="28575" anchor="ctr">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L1</a:t>
            </a:r>
          </a:p>
        </p:txBody>
      </p:sp>
      <p:sp>
        <p:nvSpPr>
          <p:cNvPr id="24" name="">
            <a:extLst xmlns:a="http://schemas.openxmlformats.org/drawingml/2006/main">
              <a:ext uri="{FF2B5EF4-FFF2-40B4-BE49-F238E27FC236}">
                <a16:creationId xmlns:a16="http://schemas.microsoft.com/office/drawing/2014/main" id="{9DED4C78-981D-416E-A71B-D309B6D2FC96}"/>
              </a:ext>
            </a:extLst>
          </p:cNvPr>
          <p:cNvSpPr>
            <a:spLocks xmlns:a="http://schemas.openxmlformats.org/drawingml/2006/main" noGrp="1"/>
          </p:cNvSpPr>
          <p:nvPr/>
        </p:nvSpPr>
        <p:spPr>
          <a:xfrm xmlns:a="http://schemas.openxmlformats.org/drawingml/2006/main">
            <a:off x="9477375" y="19154775"/>
            <a:ext cx="1028700" cy="457200"/>
          </a:xfrm>
          <a:prstGeom xmlns:a="http://schemas.openxmlformats.org/drawingml/2006/main" prst="roundRect">
            <a:avLst>
              <a:gd name="adj" fmla="val 16667"/>
            </a:avLst>
          </a:prstGeom>
          <a:solidFill xmlns:a="http://schemas.openxmlformats.org/drawingml/2006/main">
            <a:srgbClr val="347B67"/>
          </a:solidFill>
          <a:ln xmlns:a="http://schemas.openxmlformats.org/drawingml/2006/main" w="0">
            <a:noFill/>
          </a:ln>
        </p:spPr>
        <p:txBody>
          <a:bodyPr xmlns:a="http://schemas.openxmlformats.org/drawingml/2006/main" lIns="38100" tIns="28575" rIns="38100" bIns="28575" anchor="ctr">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L4</a:t>
            </a:r>
          </a:p>
        </p:txBody>
      </p:sp>
      <p:sp>
        <p:nvSpPr>
          <p:cNvPr id="25" name="">
            <a:extLst xmlns:a="http://schemas.openxmlformats.org/drawingml/2006/main">
              <a:ext uri="{FF2B5EF4-FFF2-40B4-BE49-F238E27FC236}">
                <a16:creationId xmlns:a16="http://schemas.microsoft.com/office/drawing/2014/main" id="{EA6BD291-4951-4995-A92C-63C1388EA267}"/>
              </a:ext>
            </a:extLst>
          </p:cNvPr>
          <p:cNvSpPr>
            <a:spLocks xmlns:a="http://schemas.openxmlformats.org/drawingml/2006/main" noGrp="1"/>
          </p:cNvSpPr>
          <p:nvPr/>
        </p:nvSpPr>
        <p:spPr>
          <a:xfrm xmlns:a="http://schemas.openxmlformats.org/drawingml/2006/main">
            <a:off x="9477375" y="19707225"/>
            <a:ext cx="1028700" cy="457200"/>
          </a:xfrm>
          <a:prstGeom xmlns:a="http://schemas.openxmlformats.org/drawingml/2006/main" prst="roundRect">
            <a:avLst>
              <a:gd name="adj" fmla="val 16667"/>
            </a:avLst>
          </a:prstGeom>
          <a:solidFill xmlns:a="http://schemas.openxmlformats.org/drawingml/2006/main">
            <a:srgbClr val="287281"/>
          </a:solidFill>
          <a:ln xmlns:a="http://schemas.openxmlformats.org/drawingml/2006/main" w="0">
            <a:noFill/>
          </a:ln>
        </p:spPr>
        <p:txBody>
          <a:bodyPr xmlns:a="http://schemas.openxmlformats.org/drawingml/2006/main" lIns="38100" tIns="28575" rIns="38100" bIns="28575" anchor="ctr">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L2</a:t>
            </a:r>
          </a:p>
        </p:txBody>
      </p:sp>
      <p:sp>
        <p:nvSpPr>
          <p:cNvPr id="26" name="">
            <a:extLst xmlns:a="http://schemas.openxmlformats.org/drawingml/2006/main">
              <a:ext uri="{FF2B5EF4-FFF2-40B4-BE49-F238E27FC236}">
                <a16:creationId xmlns:a16="http://schemas.microsoft.com/office/drawing/2014/main" id="{282FB0B4-45F2-46D0-BE94-C1D763E2C5F1}"/>
              </a:ext>
            </a:extLst>
          </p:cNvPr>
          <p:cNvSpPr>
            <a:spLocks xmlns:a="http://schemas.openxmlformats.org/drawingml/2006/main" noGrp="1"/>
          </p:cNvSpPr>
          <p:nvPr/>
        </p:nvSpPr>
        <p:spPr>
          <a:xfrm xmlns:a="http://schemas.openxmlformats.org/drawingml/2006/main">
            <a:off x="9477375" y="20259675"/>
            <a:ext cx="1028700" cy="457200"/>
          </a:xfrm>
          <a:prstGeom xmlns:a="http://schemas.openxmlformats.org/drawingml/2006/main" prst="roundRect">
            <a:avLst>
              <a:gd name="adj" fmla="val 16667"/>
            </a:avLst>
          </a:prstGeom>
          <a:solidFill xmlns:a="http://schemas.openxmlformats.org/drawingml/2006/main">
            <a:srgbClr val="B98729"/>
          </a:solidFill>
          <a:ln xmlns:a="http://schemas.openxmlformats.org/drawingml/2006/main" w="0">
            <a:noFill/>
          </a:ln>
        </p:spPr>
        <p:txBody>
          <a:bodyPr xmlns:a="http://schemas.openxmlformats.org/drawingml/2006/main" lIns="38100" tIns="28575" rIns="38100" bIns="28575" anchor="ctr">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L3</a:t>
            </a:r>
          </a:p>
        </p:txBody>
      </p:sp>
      <p:sp>
        <p:nvSpPr>
          <p:cNvPr id="27" name="">
            <a:extLst xmlns:a="http://schemas.openxmlformats.org/drawingml/2006/main">
              <a:ext uri="{FF2B5EF4-FFF2-40B4-BE49-F238E27FC236}">
                <a16:creationId xmlns:a16="http://schemas.microsoft.com/office/drawing/2014/main" id="{4A001623-B9AF-4604-8953-067D797D51EE}"/>
              </a:ext>
            </a:extLst>
          </p:cNvPr>
          <p:cNvSpPr>
            <a:spLocks xmlns:a="http://schemas.openxmlformats.org/drawingml/2006/main" noGrp="1"/>
          </p:cNvSpPr>
          <p:nvPr/>
        </p:nvSpPr>
        <p:spPr>
          <a:xfrm xmlns:a="http://schemas.openxmlformats.org/drawingml/2006/main">
            <a:off x="1381125" y="2183130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2000"/>
              </a:lnSpc>
              <a:buNone/>
              <a:defRPr sz="1800" b="0" i="0">
                <a:solidFill>
                  <a:srgbClr val="5C5C5C"/>
                </a:solidFill>
                <a:latin typeface="Arial"/>
                <a:ea typeface="Arial"/>
                <a:cs typeface="Arial"/>
              </a:defRPr>
            </a:pPr>
            <a:r>
              <a:rPr sz="1800" b="0" i="0">
                <a:solidFill>
                  <a:srgbClr val="5C5C5C"/>
                </a:solidFill>
                <a:latin typeface="Arial"/>
                <a:ea typeface="Arial"/>
                <a:cs typeface="Arial"/>
              </a:rPr>
              <a:t>Genetics records daily intake and annual gain separately. Agents exchange dated packets that retain source, period, quality, and confidence.</a:t>
            </a:r>
          </a:p>
        </p:txBody>
      </p:sp>
      <p:sp>
        <p:nvSpPr>
          <p:cNvPr id="28" name="Computational experiment-heading">
            <a:extLst xmlns:a="http://schemas.openxmlformats.org/drawingml/2006/main">
              <a:ext uri="{FF2B5EF4-FFF2-40B4-BE49-F238E27FC236}">
                <a16:creationId xmlns:a16="http://schemas.microsoft.com/office/drawing/2014/main" id="{F75C38B7-B603-41BE-ACEB-F1F62EFF6E75}"/>
              </a:ext>
            </a:extLst>
          </p:cNvPr>
          <p:cNvSpPr>
            <a:spLocks xmlns:a="http://schemas.openxmlformats.org/drawingml/2006/main" noGrp="1"/>
          </p:cNvSpPr>
          <p:nvPr/>
        </p:nvSpPr>
        <p:spPr>
          <a:xfrm xmlns:a="http://schemas.openxmlformats.org/drawingml/2006/main">
            <a:off x="1381125" y="238315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850" b="1" i="0">
                <a:solidFill>
                  <a:srgbClr val="651B1B"/>
                </a:solidFill>
                <a:latin typeface="Arial"/>
                <a:ea typeface="Arial"/>
                <a:cs typeface="Arial"/>
              </a:defRPr>
            </a:pPr>
            <a:r>
              <a:rPr sz="2850" b="1" i="0">
                <a:solidFill>
                  <a:srgbClr val="651B1B"/>
                </a:solidFill>
                <a:latin typeface="Arial"/>
                <a:ea typeface="Arial"/>
                <a:cs typeface="Arial"/>
              </a:rPr>
              <a:t>Computational experiment</a:t>
            </a:r>
          </a:p>
        </p:txBody>
      </p:sp>
      <p:sp>
        <p:nvSpPr>
          <p:cNvPr id="29" name="">
            <a:extLst xmlns:a="http://schemas.openxmlformats.org/drawingml/2006/main">
              <a:ext uri="{FF2B5EF4-FFF2-40B4-BE49-F238E27FC236}">
                <a16:creationId xmlns:a16="http://schemas.microsoft.com/office/drawing/2014/main" id="{98F3CAEF-C8FA-472B-A5DF-416F934ECADB}"/>
              </a:ext>
            </a:extLst>
          </p:cNvPr>
          <p:cNvSpPr>
            <a:spLocks xmlns:a="http://schemas.openxmlformats.org/drawingml/2006/main" noGrp="1"/>
          </p:cNvSpPr>
          <p:nvPr/>
        </p:nvSpPr>
        <p:spPr>
          <a:xfrm xmlns:a="http://schemas.openxmlformats.org/drawingml/2006/main">
            <a:off x="1381125" y="24422100"/>
            <a:ext cx="10668000" cy="733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2000"/>
              </a:lnSpc>
              <a:buNone/>
              <a:defRPr sz="2250" b="0" i="0">
                <a:solidFill>
                  <a:srgbClr val="1D1D1D"/>
                </a:solidFill>
                <a:latin typeface="Arial"/>
                <a:ea typeface="Arial"/>
                <a:cs typeface="Arial"/>
              </a:defRPr>
            </a:pPr>
            <a:r>
              <a:rPr sz="2250" b="0" i="0">
                <a:solidFill>
                  <a:srgbClr val="1D1D1D"/>
                </a:solidFill>
                <a:latin typeface="Arial"/>
                <a:ea typeface="Arial"/>
                <a:cs typeface="Arial"/>
              </a:rPr>
              <a:t>We simulated a 100-cow high-intensity farm for 365 days, with 80 ha of cropland and 40 ha of pasture. The full 2⁴ design tested all 16 loop combinations at seed 42. We repeated five representative configurations across seeds 1 through 12.</a:t>
            </a:r>
          </a:p>
          <a:p xmlns:a="http://schemas.openxmlformats.org/drawingml/2006/main">
            <a:r>
              <a:t/>
            </a:r>
          </a:p>
          <a:p xmlns:a="http://schemas.openxmlformats.org/drawingml/2006/main">
            <a:pPr algn="l">
              <a:lnSpc>
                <a:spcPct val="102000"/>
              </a:lnSpc>
              <a:buNone/>
              <a:defRPr sz="2250" b="0" i="0">
                <a:solidFill>
                  <a:srgbClr val="1D1D1D"/>
                </a:solidFill>
                <a:latin typeface="Arial"/>
                <a:ea typeface="Arial"/>
                <a:cs typeface="Arial"/>
              </a:defRPr>
            </a:pPr>
            <a:r>
              <a:rPr sz="2250" b="0" i="0">
                <a:solidFill>
                  <a:srgbClr val="1D1D1D"/>
                </a:solidFill>
                <a:latin typeface="Arial"/>
                <a:ea typeface="Arial"/>
                <a:cs typeface="Arial"/>
              </a:rPr>
              <a:t>Processor, whey, and land components stayed available in every run. We turned off amino-acid water savings and automatic manager responses so we could isolate loop effects. The model applied its calibration prices and configured price shock. We aggregated daily records into annual totals.</a:t>
            </a:r>
          </a:p>
        </p:txBody>
      </p:sp>
      <p:sp>
        <p:nvSpPr>
          <p:cNvPr id="30" name="">
            <a:extLst xmlns:a="http://schemas.openxmlformats.org/drawingml/2006/main">
              <a:ext uri="{FF2B5EF4-FFF2-40B4-BE49-F238E27FC236}">
                <a16:creationId xmlns:a16="http://schemas.microsoft.com/office/drawing/2014/main" id="{0BAD0B55-961D-471F-95BC-C0F40EAAEB2B}"/>
              </a:ext>
            </a:extLst>
          </p:cNvPr>
          <p:cNvSpPr>
            <a:spLocks xmlns:a="http://schemas.openxmlformats.org/drawingml/2006/main" noGrp="1"/>
          </p:cNvSpPr>
          <p:nvPr/>
        </p:nvSpPr>
        <p:spPr>
          <a:xfrm xmlns:a="http://schemas.openxmlformats.org/drawingml/2006/main">
            <a:off x="1571625" y="3238500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Autofit/>
          </a:bodyPr>
          <a:lstStyle xmlns:a="http://schemas.openxmlformats.org/drawingml/2006/main"/>
          <a:p xmlns:a="http://schemas.openxmlformats.org/drawingml/2006/main">
            <a:pPr algn="ctr">
              <a:lnSpc>
                <a:spcPct val="103000"/>
              </a:lnSpc>
              <a:buNone/>
              <a:defRPr sz="2175" b="1" i="0">
                <a:solidFill>
                  <a:srgbClr val="651B1B"/>
                </a:solidFill>
                <a:latin typeface="Arial"/>
                <a:ea typeface="Arial"/>
                <a:cs typeface="Arial"/>
              </a:defRPr>
            </a:pPr>
            <a:r>
              <a:rPr sz="2175" b="1" i="0">
                <a:solidFill>
                  <a:srgbClr val="651B1B"/>
                </a:solidFill>
                <a:latin typeface="Arial"/>
                <a:ea typeface="Arial"/>
                <a:cs typeface="Arial"/>
              </a:rPr>
              <a:t>We did not include capital costs, so this poster does not report ROI or payback.</a:t>
            </a:r>
          </a:p>
        </p:txBody>
      </p:sp>
      <p:sp>
        <p:nvSpPr>
          <p:cNvPr id="31" name="">
            <a:extLst xmlns:a="http://schemas.openxmlformats.org/drawingml/2006/main">
              <a:ext uri="{FF2B5EF4-FFF2-40B4-BE49-F238E27FC236}">
                <a16:creationId xmlns:a16="http://schemas.microsoft.com/office/drawing/2014/main" id="{FF3238CF-35E7-4474-A2EE-C1C9A9ADC578}"/>
              </a:ext>
            </a:extLst>
          </p:cNvPr>
          <p:cNvSpPr>
            <a:spLocks xmlns:a="http://schemas.openxmlformats.org/drawingml/2006/main" noGrp="1"/>
          </p:cNvSpPr>
          <p:nvPr/>
        </p:nvSpPr>
        <p:spPr>
          <a:xfrm xmlns:a="http://schemas.openxmlformats.org/drawingml/2006/main">
            <a:off x="13239750" y="52959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3000"/>
              </a:lnSpc>
              <a:buNone/>
              <a:defRPr sz="1800" b="1" i="0">
                <a:solidFill>
                  <a:srgbClr val="5C5C5C"/>
                </a:solidFill>
                <a:latin typeface="Arial"/>
                <a:ea typeface="Arial"/>
                <a:cs typeface="Arial"/>
              </a:defRPr>
            </a:pPr>
            <a:r>
              <a:rPr sz="1800" b="1" i="0">
                <a:solidFill>
                  <a:srgbClr val="5C5C5C"/>
                </a:solidFill>
                <a:latin typeface="Arial"/>
                <a:ea typeface="Arial"/>
                <a:cs typeface="Arial"/>
              </a:rPr>
              <a:t>OPERATING PROFIT</a:t>
            </a:r>
          </a:p>
        </p:txBody>
      </p:sp>
      <p:sp>
        <p:nvSpPr>
          <p:cNvPr id="32" name="">
            <a:extLst xmlns:a="http://schemas.openxmlformats.org/drawingml/2006/main">
              <a:ext uri="{FF2B5EF4-FFF2-40B4-BE49-F238E27FC236}">
                <a16:creationId xmlns:a16="http://schemas.microsoft.com/office/drawing/2014/main" id="{7B531BF8-013F-4F8A-864F-59594BCBE78C}"/>
              </a:ext>
            </a:extLst>
          </p:cNvPr>
          <p:cNvSpPr>
            <a:spLocks xmlns:a="http://schemas.openxmlformats.org/drawingml/2006/main" noGrp="1"/>
          </p:cNvSpPr>
          <p:nvPr/>
        </p:nvSpPr>
        <p:spPr>
          <a:xfrm xmlns:a="http://schemas.openxmlformats.org/drawingml/2006/main">
            <a:off x="13239750" y="561975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Autofit/>
          </a:bodyPr>
          <a:lstStyle xmlns:a="http://schemas.openxmlformats.org/drawingml/2006/main"/>
          <a:p xmlns:a="http://schemas.openxmlformats.org/drawingml/2006/main">
            <a:pPr algn="ctr">
              <a:lnSpc>
                <a:spcPct val="103000"/>
              </a:lnSpc>
              <a:buNone/>
              <a:defRPr sz="3600" b="1" i="0">
                <a:solidFill>
                  <a:srgbClr val="4E1111"/>
                </a:solidFill>
                <a:latin typeface="Arial"/>
                <a:ea typeface="Arial"/>
                <a:cs typeface="Arial"/>
              </a:defRPr>
            </a:pPr>
            <a:r>
              <a:rPr sz="3600" b="1" i="0">
                <a:solidFill>
                  <a:srgbClr val="4E1111"/>
                </a:solidFill>
                <a:latin typeface="Arial"/>
                <a:ea typeface="Arial"/>
                <a:cs typeface="Arial"/>
              </a:rPr>
              <a:t>$124k</a:t>
            </a:r>
          </a:p>
        </p:txBody>
      </p:sp>
      <p:sp>
        <p:nvSpPr>
          <p:cNvPr id="33" name="">
            <a:extLst xmlns:a="http://schemas.openxmlformats.org/drawingml/2006/main">
              <a:ext uri="{FF2B5EF4-FFF2-40B4-BE49-F238E27FC236}">
                <a16:creationId xmlns:a16="http://schemas.microsoft.com/office/drawing/2014/main" id="{6A6A2BDE-BEB4-425E-A1CB-2C16D4F97E55}"/>
              </a:ext>
            </a:extLst>
          </p:cNvPr>
          <p:cNvSpPr>
            <a:spLocks xmlns:a="http://schemas.openxmlformats.org/drawingml/2006/main" noGrp="1"/>
          </p:cNvSpPr>
          <p:nvPr/>
        </p:nvSpPr>
        <p:spPr>
          <a:xfrm xmlns:a="http://schemas.openxmlformats.org/drawingml/2006/main">
            <a:off x="13239750" y="62484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3000"/>
              </a:lnSpc>
              <a:buNone/>
              <a:defRPr sz="1800" b="1" i="0">
                <a:solidFill>
                  <a:srgbClr val="1D1D1D"/>
                </a:solidFill>
                <a:latin typeface="Arial"/>
                <a:ea typeface="Arial"/>
                <a:cs typeface="Arial"/>
              </a:defRPr>
            </a:pPr>
            <a:r>
              <a:rPr sz="1800" b="1" i="0">
                <a:solidFill>
                  <a:srgbClr val="1D1D1D"/>
                </a:solidFill>
                <a:latin typeface="Arial"/>
                <a:ea typeface="Arial"/>
                <a:cs typeface="Arial"/>
              </a:rPr>
              <a:t>about +207%</a:t>
            </a:r>
          </a:p>
        </p:txBody>
      </p:sp>
      <p:sp>
        <p:nvSpPr>
          <p:cNvPr id="34" name="">
            <a:extLst xmlns:a="http://schemas.openxmlformats.org/drawingml/2006/main">
              <a:ext uri="{FF2B5EF4-FFF2-40B4-BE49-F238E27FC236}">
                <a16:creationId xmlns:a16="http://schemas.microsoft.com/office/drawing/2014/main" id="{F18A385D-EE62-4354-986D-0D5FF7CFDD6D}"/>
              </a:ext>
            </a:extLst>
          </p:cNvPr>
          <p:cNvSpPr>
            <a:spLocks xmlns:a="http://schemas.openxmlformats.org/drawingml/2006/main" noGrp="1"/>
          </p:cNvSpPr>
          <p:nvPr/>
        </p:nvSpPr>
        <p:spPr>
          <a:xfrm xmlns:a="http://schemas.openxmlformats.org/drawingml/2006/main">
            <a:off x="18954750" y="52959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3000"/>
              </a:lnSpc>
              <a:buNone/>
              <a:defRPr sz="1800" b="1" i="0">
                <a:solidFill>
                  <a:srgbClr val="5C5C5C"/>
                </a:solidFill>
                <a:latin typeface="Arial"/>
                <a:ea typeface="Arial"/>
                <a:cs typeface="Arial"/>
              </a:defRPr>
            </a:pPr>
            <a:r>
              <a:rPr sz="1800" b="1" i="0">
                <a:solidFill>
                  <a:srgbClr val="5C5C5C"/>
                </a:solidFill>
                <a:latin typeface="Arial"/>
                <a:ea typeface="Arial"/>
                <a:cs typeface="Arial"/>
              </a:rPr>
              <a:t>NET GHG</a:t>
            </a:r>
          </a:p>
        </p:txBody>
      </p:sp>
      <p:sp>
        <p:nvSpPr>
          <p:cNvPr id="35" name="">
            <a:extLst xmlns:a="http://schemas.openxmlformats.org/drawingml/2006/main">
              <a:ext uri="{FF2B5EF4-FFF2-40B4-BE49-F238E27FC236}">
                <a16:creationId xmlns:a16="http://schemas.microsoft.com/office/drawing/2014/main" id="{17AEBF5A-3E6D-4889-9C70-4DC3F13461A5}"/>
              </a:ext>
            </a:extLst>
          </p:cNvPr>
          <p:cNvSpPr>
            <a:spLocks xmlns:a="http://schemas.openxmlformats.org/drawingml/2006/main" noGrp="1"/>
          </p:cNvSpPr>
          <p:nvPr/>
        </p:nvSpPr>
        <p:spPr>
          <a:xfrm xmlns:a="http://schemas.openxmlformats.org/drawingml/2006/main">
            <a:off x="18954750" y="561975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Autofit/>
          </a:bodyPr>
          <a:lstStyle xmlns:a="http://schemas.openxmlformats.org/drawingml/2006/main"/>
          <a:p xmlns:a="http://schemas.openxmlformats.org/drawingml/2006/main">
            <a:pPr algn="ctr">
              <a:lnSpc>
                <a:spcPct val="103000"/>
              </a:lnSpc>
              <a:buNone/>
              <a:defRPr sz="3600" b="1" i="0">
                <a:solidFill>
                  <a:srgbClr val="347B67"/>
                </a:solidFill>
                <a:latin typeface="Arial"/>
                <a:ea typeface="Arial"/>
                <a:cs typeface="Arial"/>
              </a:defRPr>
            </a:pPr>
            <a:r>
              <a:rPr sz="3600" b="1" i="0">
                <a:solidFill>
                  <a:srgbClr val="347B67"/>
                </a:solidFill>
                <a:latin typeface="Arial"/>
                <a:ea typeface="Arial"/>
                <a:cs typeface="Arial"/>
              </a:rPr>
              <a:t>121 t CO2e</a:t>
            </a:r>
          </a:p>
        </p:txBody>
      </p:sp>
      <p:sp>
        <p:nvSpPr>
          <p:cNvPr id="36" name="">
            <a:extLst xmlns:a="http://schemas.openxmlformats.org/drawingml/2006/main">
              <a:ext uri="{FF2B5EF4-FFF2-40B4-BE49-F238E27FC236}">
                <a16:creationId xmlns:a16="http://schemas.microsoft.com/office/drawing/2014/main" id="{659DD17A-AAF2-4AA8-AAA4-0409606CC174}"/>
              </a:ext>
            </a:extLst>
          </p:cNvPr>
          <p:cNvSpPr>
            <a:spLocks xmlns:a="http://schemas.openxmlformats.org/drawingml/2006/main" noGrp="1"/>
          </p:cNvSpPr>
          <p:nvPr/>
        </p:nvSpPr>
        <p:spPr>
          <a:xfrm xmlns:a="http://schemas.openxmlformats.org/drawingml/2006/main">
            <a:off x="18954750" y="62484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3000"/>
              </a:lnSpc>
              <a:buNone/>
              <a:defRPr sz="1800" b="1" i="0">
                <a:solidFill>
                  <a:srgbClr val="1D1D1D"/>
                </a:solidFill>
                <a:latin typeface="Arial"/>
                <a:ea typeface="Arial"/>
                <a:cs typeface="Arial"/>
              </a:defRPr>
            </a:pPr>
            <a:r>
              <a:rPr sz="1800" b="1" i="0">
                <a:solidFill>
                  <a:srgbClr val="1D1D1D"/>
                </a:solidFill>
                <a:latin typeface="Arial"/>
                <a:ea typeface="Arial"/>
                <a:cs typeface="Arial"/>
              </a:rPr>
              <a:t>about −10%</a:t>
            </a:r>
          </a:p>
        </p:txBody>
      </p:sp>
      <p:sp>
        <p:nvSpPr>
          <p:cNvPr id="37" name="">
            <a:extLst xmlns:a="http://schemas.openxmlformats.org/drawingml/2006/main">
              <a:ext uri="{FF2B5EF4-FFF2-40B4-BE49-F238E27FC236}">
                <a16:creationId xmlns:a16="http://schemas.microsoft.com/office/drawing/2014/main" id="{11681BB9-2125-4EF3-875D-D1AD1BBB4F34}"/>
              </a:ext>
            </a:extLst>
          </p:cNvPr>
          <p:cNvSpPr>
            <a:spLocks xmlns:a="http://schemas.openxmlformats.org/drawingml/2006/main" noGrp="1"/>
          </p:cNvSpPr>
          <p:nvPr/>
        </p:nvSpPr>
        <p:spPr>
          <a:xfrm xmlns:a="http://schemas.openxmlformats.org/drawingml/2006/main">
            <a:off x="24669750" y="52959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3000"/>
              </a:lnSpc>
              <a:buNone/>
              <a:defRPr sz="1800" b="1" i="0">
                <a:solidFill>
                  <a:srgbClr val="5C5C5C"/>
                </a:solidFill>
                <a:latin typeface="Arial"/>
                <a:ea typeface="Arial"/>
                <a:cs typeface="Arial"/>
              </a:defRPr>
            </a:pPr>
            <a:r>
              <a:rPr sz="1800" b="1" i="0">
                <a:solidFill>
                  <a:srgbClr val="5C5C5C"/>
                </a:solidFill>
                <a:latin typeface="Arial"/>
                <a:ea typeface="Arial"/>
                <a:cs typeface="Arial"/>
              </a:rPr>
              <a:t>FRESHWATER</a:t>
            </a:r>
          </a:p>
        </p:txBody>
      </p:sp>
      <p:sp>
        <p:nvSpPr>
          <p:cNvPr id="38" name="">
            <a:extLst xmlns:a="http://schemas.openxmlformats.org/drawingml/2006/main">
              <a:ext uri="{FF2B5EF4-FFF2-40B4-BE49-F238E27FC236}">
                <a16:creationId xmlns:a16="http://schemas.microsoft.com/office/drawing/2014/main" id="{15C547F4-6061-4FE7-B50F-EDAC05E6AB86}"/>
              </a:ext>
            </a:extLst>
          </p:cNvPr>
          <p:cNvSpPr>
            <a:spLocks xmlns:a="http://schemas.openxmlformats.org/drawingml/2006/main" noGrp="1"/>
          </p:cNvSpPr>
          <p:nvPr/>
        </p:nvSpPr>
        <p:spPr>
          <a:xfrm xmlns:a="http://schemas.openxmlformats.org/drawingml/2006/main">
            <a:off x="24669750" y="561975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Autofit/>
          </a:bodyPr>
          <a:lstStyle xmlns:a="http://schemas.openxmlformats.org/drawingml/2006/main"/>
          <a:p xmlns:a="http://schemas.openxmlformats.org/drawingml/2006/main">
            <a:pPr algn="ctr">
              <a:lnSpc>
                <a:spcPct val="103000"/>
              </a:lnSpc>
              <a:buNone/>
              <a:defRPr sz="3600" b="1" i="0">
                <a:solidFill>
                  <a:srgbClr val="287281"/>
                </a:solidFill>
                <a:latin typeface="Arial"/>
                <a:ea typeface="Arial"/>
                <a:cs typeface="Arial"/>
              </a:defRPr>
            </a:pPr>
            <a:r>
              <a:rPr sz="3600" b="1" i="0">
                <a:solidFill>
                  <a:srgbClr val="287281"/>
                </a:solidFill>
                <a:latin typeface="Arial"/>
                <a:ea typeface="Arial"/>
                <a:cs typeface="Arial"/>
              </a:rPr>
              <a:t>38.7 ML</a:t>
            </a:r>
          </a:p>
        </p:txBody>
      </p:sp>
      <p:sp>
        <p:nvSpPr>
          <p:cNvPr id="39" name="">
            <a:extLst xmlns:a="http://schemas.openxmlformats.org/drawingml/2006/main">
              <a:ext uri="{FF2B5EF4-FFF2-40B4-BE49-F238E27FC236}">
                <a16:creationId xmlns:a16="http://schemas.microsoft.com/office/drawing/2014/main" id="{1D515D40-4C76-41CB-802C-6CB1B2806E3F}"/>
              </a:ext>
            </a:extLst>
          </p:cNvPr>
          <p:cNvSpPr>
            <a:spLocks xmlns:a="http://schemas.openxmlformats.org/drawingml/2006/main" noGrp="1"/>
          </p:cNvSpPr>
          <p:nvPr/>
        </p:nvSpPr>
        <p:spPr>
          <a:xfrm xmlns:a="http://schemas.openxmlformats.org/drawingml/2006/main">
            <a:off x="24669750" y="62484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3000"/>
              </a:lnSpc>
              <a:buNone/>
              <a:defRPr sz="1800" b="1" i="0">
                <a:solidFill>
                  <a:srgbClr val="1D1D1D"/>
                </a:solidFill>
                <a:latin typeface="Arial"/>
                <a:ea typeface="Arial"/>
                <a:cs typeface="Arial"/>
              </a:defRPr>
            </a:pPr>
            <a:r>
              <a:rPr sz="1800" b="1" i="0">
                <a:solidFill>
                  <a:srgbClr val="1D1D1D"/>
                </a:solidFill>
                <a:latin typeface="Arial"/>
                <a:ea typeface="Arial"/>
                <a:cs typeface="Arial"/>
              </a:rPr>
              <a:t>0.16 ML less</a:t>
            </a:r>
          </a:p>
        </p:txBody>
      </p:sp>
      <p:sp>
        <p:nvSpPr>
          <p:cNvPr id="40" name="">
            <a:extLst xmlns:a="http://schemas.openxmlformats.org/drawingml/2006/main">
              <a:ext uri="{FF2B5EF4-FFF2-40B4-BE49-F238E27FC236}">
                <a16:creationId xmlns:a16="http://schemas.microsoft.com/office/drawing/2014/main" id="{26590DBA-F214-4C20-B758-4DB640E06240}"/>
              </a:ext>
            </a:extLst>
          </p:cNvPr>
          <p:cNvSpPr>
            <a:spLocks xmlns:a="http://schemas.openxmlformats.org/drawingml/2006/main" noGrp="1"/>
          </p:cNvSpPr>
          <p:nvPr/>
        </p:nvSpPr>
        <p:spPr>
          <a:xfrm xmlns:a="http://schemas.openxmlformats.org/drawingml/2006/main">
            <a:off x="30384750" y="52959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3000"/>
              </a:lnSpc>
              <a:buNone/>
              <a:defRPr sz="1800" b="1" i="0">
                <a:solidFill>
                  <a:srgbClr val="5C5C5C"/>
                </a:solidFill>
                <a:latin typeface="Arial"/>
                <a:ea typeface="Arial"/>
                <a:cs typeface="Arial"/>
              </a:defRPr>
            </a:pPr>
            <a:r>
              <a:rPr sz="1800" b="1" i="0">
                <a:solidFill>
                  <a:srgbClr val="5C5C5C"/>
                </a:solidFill>
                <a:latin typeface="Arial"/>
                <a:ea typeface="Arial"/>
                <a:cs typeface="Arial"/>
              </a:rPr>
              <a:t>CIRCULARITY</a:t>
            </a:r>
          </a:p>
        </p:txBody>
      </p:sp>
      <p:sp>
        <p:nvSpPr>
          <p:cNvPr id="41" name="">
            <a:extLst xmlns:a="http://schemas.openxmlformats.org/drawingml/2006/main">
              <a:ext uri="{FF2B5EF4-FFF2-40B4-BE49-F238E27FC236}">
                <a16:creationId xmlns:a16="http://schemas.microsoft.com/office/drawing/2014/main" id="{9084DC1A-B296-4BEA-8A1E-45E8A13F7D11}"/>
              </a:ext>
            </a:extLst>
          </p:cNvPr>
          <p:cNvSpPr>
            <a:spLocks xmlns:a="http://schemas.openxmlformats.org/drawingml/2006/main" noGrp="1"/>
          </p:cNvSpPr>
          <p:nvPr/>
        </p:nvSpPr>
        <p:spPr>
          <a:xfrm xmlns:a="http://schemas.openxmlformats.org/drawingml/2006/main">
            <a:off x="30384750" y="561975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ctr">
            <a:noAutofit/>
          </a:bodyPr>
          <a:lstStyle xmlns:a="http://schemas.openxmlformats.org/drawingml/2006/main"/>
          <a:p xmlns:a="http://schemas.openxmlformats.org/drawingml/2006/main">
            <a:pPr algn="ctr">
              <a:lnSpc>
                <a:spcPct val="103000"/>
              </a:lnSpc>
              <a:buNone/>
              <a:defRPr sz="3600" b="1" i="0">
                <a:solidFill>
                  <a:srgbClr val="B98729"/>
                </a:solidFill>
                <a:latin typeface="Arial"/>
                <a:ea typeface="Arial"/>
                <a:cs typeface="Arial"/>
              </a:defRPr>
            </a:pPr>
            <a:r>
              <a:rPr sz="3600" b="1" i="0">
                <a:solidFill>
                  <a:srgbClr val="B98729"/>
                </a:solidFill>
                <a:latin typeface="Arial"/>
                <a:ea typeface="Arial"/>
                <a:cs typeface="Arial"/>
              </a:rPr>
              <a:t>0.71</a:t>
            </a:r>
          </a:p>
        </p:txBody>
      </p:sp>
      <p:sp>
        <p:nvSpPr>
          <p:cNvPr id="42" name="">
            <a:extLst xmlns:a="http://schemas.openxmlformats.org/drawingml/2006/main">
              <a:ext uri="{FF2B5EF4-FFF2-40B4-BE49-F238E27FC236}">
                <a16:creationId xmlns:a16="http://schemas.microsoft.com/office/drawing/2014/main" id="{EE54485F-89F0-441B-ACD8-E6979D3C9449}"/>
              </a:ext>
            </a:extLst>
          </p:cNvPr>
          <p:cNvSpPr>
            <a:spLocks xmlns:a="http://schemas.openxmlformats.org/drawingml/2006/main" noGrp="1"/>
          </p:cNvSpPr>
          <p:nvPr/>
        </p:nvSpPr>
        <p:spPr>
          <a:xfrm xmlns:a="http://schemas.openxmlformats.org/drawingml/2006/main">
            <a:off x="30384750" y="62484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3000"/>
              </a:lnSpc>
              <a:buNone/>
              <a:defRPr sz="1800" b="1" i="0">
                <a:solidFill>
                  <a:srgbClr val="1D1D1D"/>
                </a:solidFill>
                <a:latin typeface="Arial"/>
                <a:ea typeface="Arial"/>
                <a:cs typeface="Arial"/>
              </a:defRPr>
            </a:pPr>
            <a:r>
              <a:rPr sz="1800" b="1" i="0">
                <a:solidFill>
                  <a:srgbClr val="1D1D1D"/>
                </a:solidFill>
                <a:latin typeface="Arial"/>
                <a:ea typeface="Arial"/>
                <a:cs typeface="Arial"/>
              </a:rPr>
              <a:t>+0.50</a:t>
            </a:r>
          </a:p>
        </p:txBody>
      </p:sp>
      <p:sp>
        <p:nvSpPr>
          <p:cNvPr id="43" name="">
            <a:extLst xmlns:a="http://schemas.openxmlformats.org/drawingml/2006/main">
              <a:ext uri="{FF2B5EF4-FFF2-40B4-BE49-F238E27FC236}">
                <a16:creationId xmlns:a16="http://schemas.microsoft.com/office/drawing/2014/main" id="{C8822C47-901F-43D6-B2D5-9CADE936CD52}"/>
              </a:ext>
            </a:extLst>
          </p:cNvPr>
          <p:cNvSpPr>
            <a:spLocks xmlns:a="http://schemas.openxmlformats.org/drawingml/2006/main" noGrp="1"/>
          </p:cNvSpPr>
          <p:nvPr/>
        </p:nvSpPr>
        <p:spPr>
          <a:xfrm xmlns:a="http://schemas.openxmlformats.org/drawingml/2006/main">
            <a:off x="13239750" y="6743700"/>
            <a:ext cx="2257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3000"/>
              </a:lnSpc>
              <a:buNone/>
              <a:defRPr sz="1800" b="1" i="0">
                <a:solidFill>
                  <a:srgbClr val="5C5C5C"/>
                </a:solidFill>
                <a:latin typeface="Arial"/>
                <a:ea typeface="Arial"/>
                <a:cs typeface="Arial"/>
              </a:defRPr>
            </a:pPr>
            <a:r>
              <a:rPr sz="1800" b="1" i="0">
                <a:solidFill>
                  <a:srgbClr val="5C5C5C"/>
                </a:solidFill>
                <a:latin typeface="Arial"/>
                <a:ea typeface="Arial"/>
                <a:cs typeface="Arial"/>
              </a:rPr>
              <a:t>All-loop run at seed 42. Milk output remained 720,000 L per year.</a:t>
            </a:r>
          </a:p>
        </p:txBody>
      </p:sp>
      <p:sp>
        <p:nvSpPr>
          <p:cNvPr id="44" name="">
            <a:extLst xmlns:a="http://schemas.openxmlformats.org/drawingml/2006/main">
              <a:ext uri="{FF2B5EF4-FFF2-40B4-BE49-F238E27FC236}">
                <a16:creationId xmlns:a16="http://schemas.microsoft.com/office/drawing/2014/main" id="{5CC6B664-7442-4A31-8418-5D0AEFBB40D6}"/>
              </a:ext>
            </a:extLst>
          </p:cNvPr>
          <p:cNvSpPr>
            <a:spLocks xmlns:a="http://schemas.openxmlformats.org/drawingml/2006/main" noGrp="1"/>
          </p:cNvSpPr>
          <p:nvPr/>
        </p:nvSpPr>
        <p:spPr>
          <a:xfrm xmlns:a="http://schemas.openxmlformats.org/drawingml/2006/main">
            <a:off x="13239750" y="7448550"/>
            <a:ext cx="2257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3000"/>
              </a:lnSpc>
              <a:buNone/>
              <a:defRPr sz="2850" b="1" i="0">
                <a:solidFill>
                  <a:srgbClr val="651B1B"/>
                </a:solidFill>
                <a:latin typeface="Arial"/>
                <a:ea typeface="Arial"/>
                <a:cs typeface="Arial"/>
              </a:defRPr>
            </a:pPr>
            <a:r>
              <a:rPr sz="2850" b="1" i="0">
                <a:solidFill>
                  <a:srgbClr val="651B1B"/>
                </a:solidFill>
                <a:latin typeface="Arial"/>
                <a:ea typeface="Arial"/>
                <a:cs typeface="Arial"/>
              </a:rPr>
              <a:t>Loop effects across all 16 configurations</a:t>
            </a:r>
          </a:p>
        </p:txBody>
      </p:sp>
      <p:pic>
        <p:nvPicPr>
          <p:cNvPr id="109" name=""/>
          <p:cNvPicPr>
            <a:picLocks xmlns:a="http://schemas.openxmlformats.org/drawingml/2006/main" noChangeAspect="1"/>
          </p:cNvPicPr>
          <p:nvPr/>
        </p:nvPicPr>
        <p:blipFill>
          <a:blip xmlns:r="http://schemas.openxmlformats.org/officeDocument/2006/relationships" xmlns:a="http://schemas.openxmlformats.org/drawingml/2006/main" r:embed="R5026701f3e0a413b"/>
          <a:stretch xmlns:a="http://schemas.openxmlformats.org/drawingml/2006/main"/>
        </p:blipFill>
        <p:spPr>
          <a:xfrm xmlns:a="http://schemas.openxmlformats.org/drawingml/2006/main">
            <a:off x="13272379" y="8020050"/>
            <a:ext cx="22508992" cy="1381125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8430FF14-4355-427F-B2C9-92FE6B7ED969}"/>
              </a:ext>
            </a:extLst>
          </p:cNvPr>
          <p:cNvSpPr>
            <a:spLocks xmlns:a="http://schemas.openxmlformats.org/drawingml/2006/main" noGrp="1"/>
          </p:cNvSpPr>
          <p:nvPr/>
        </p:nvSpPr>
        <p:spPr>
          <a:xfrm xmlns:a="http://schemas.openxmlformats.org/drawingml/2006/main">
            <a:off x="13239750" y="21907500"/>
            <a:ext cx="2257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0000"/>
              </a:lnSpc>
              <a:buNone/>
              <a:defRPr sz="1800" b="0" i="0">
                <a:solidFill>
                  <a:srgbClr val="5C5C5C"/>
                </a:solidFill>
                <a:latin typeface="Arial"/>
                <a:ea typeface="Arial"/>
                <a:cs typeface="Arial"/>
              </a:defRPr>
            </a:pPr>
            <a:r>
              <a:rPr sz="1800" b="0" i="0">
                <a:solidFill>
                  <a:srgbClr val="5C5C5C"/>
                </a:solidFill>
                <a:latin typeface="Arial"/>
                <a:ea typeface="Arial"/>
                <a:cs typeface="Arial"/>
              </a:rPr>
              <a:t>L1 represents nutrient recovery, L2 water recovery, L3 energy recovery, and L4 on-farm processing with byproduct routing. Changes use the no-loop configuration at seed 42 as the baseline.</a:t>
            </a:r>
          </a:p>
        </p:txBody>
      </p:sp>
      <p:sp>
        <p:nvSpPr>
          <p:cNvPr id="47" name="">
            <a:extLst xmlns:a="http://schemas.openxmlformats.org/drawingml/2006/main">
              <a:ext uri="{FF2B5EF4-FFF2-40B4-BE49-F238E27FC236}">
                <a16:creationId xmlns:a16="http://schemas.microsoft.com/office/drawing/2014/main" id="{AD9C067B-EA06-445D-9C64-55D3A3EC906A}"/>
              </a:ext>
            </a:extLst>
          </p:cNvPr>
          <p:cNvSpPr>
            <a:spLocks xmlns:a="http://schemas.openxmlformats.org/drawingml/2006/main" noGrp="1"/>
          </p:cNvSpPr>
          <p:nvPr/>
        </p:nvSpPr>
        <p:spPr>
          <a:xfrm xmlns:a="http://schemas.openxmlformats.org/drawingml/2006/main">
            <a:off x="13239750" y="23221950"/>
            <a:ext cx="2257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3000"/>
              </a:lnSpc>
              <a:buNone/>
              <a:defRPr sz="2850" b="1" i="0">
                <a:solidFill>
                  <a:srgbClr val="651B1B"/>
                </a:solidFill>
                <a:latin typeface="Arial"/>
                <a:ea typeface="Arial"/>
                <a:cs typeface="Arial"/>
              </a:defRPr>
            </a:pPr>
            <a:r>
              <a:rPr sz="2850" b="1" i="0">
                <a:solidFill>
                  <a:srgbClr val="651B1B"/>
                </a:solidFill>
                <a:latin typeface="Arial"/>
                <a:ea typeface="Arial"/>
                <a:cs typeface="Arial"/>
              </a:rPr>
              <a:t>Product and energy effects persist across 12 seeds</a:t>
            </a:r>
          </a:p>
        </p:txBody>
      </p:sp>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eeebc8a07a7d4715"/>
          <a:stretch xmlns:a="http://schemas.openxmlformats.org/drawingml/2006/main"/>
        </p:blipFill>
        <p:spPr>
          <a:xfrm xmlns:a="http://schemas.openxmlformats.org/drawingml/2006/main">
            <a:off x="13239750" y="23892401"/>
            <a:ext cx="22574250" cy="9365198"/>
          </a:xfrm>
          <a:prstGeom xmlns:a="http://schemas.openxmlformats.org/drawingml/2006/main" prst="rect">
            <a:avLst/>
          </a:prstGeom>
        </p:spPr>
      </p:pic>
      <p:sp>
        <p:nvSpPr>
          <p:cNvPr id="49" name="">
            <a:extLst xmlns:a="http://schemas.openxmlformats.org/drawingml/2006/main">
              <a:ext uri="{FF2B5EF4-FFF2-40B4-BE49-F238E27FC236}">
                <a16:creationId xmlns:a16="http://schemas.microsoft.com/office/drawing/2014/main" id="{84B82B00-9B70-41BF-AA0B-8B36D281F0DA}"/>
              </a:ext>
            </a:extLst>
          </p:cNvPr>
          <p:cNvSpPr>
            <a:spLocks xmlns:a="http://schemas.openxmlformats.org/drawingml/2006/main" noGrp="1"/>
          </p:cNvSpPr>
          <p:nvPr/>
        </p:nvSpPr>
        <p:spPr>
          <a:xfrm xmlns:a="http://schemas.openxmlformats.org/drawingml/2006/main">
            <a:off x="13239750" y="33432750"/>
            <a:ext cx="2257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ctr">
              <a:lnSpc>
                <a:spcPct val="100000"/>
              </a:lnSpc>
              <a:buNone/>
              <a:defRPr sz="1800" b="0" i="0">
                <a:solidFill>
                  <a:srgbClr val="5C5C5C"/>
                </a:solidFill>
                <a:latin typeface="Arial"/>
                <a:ea typeface="Arial"/>
                <a:cs typeface="Arial"/>
              </a:defRPr>
            </a:pPr>
            <a:r>
              <a:rPr sz="1800" b="0" i="0">
                <a:solidFill>
                  <a:srgbClr val="5C5C5C"/>
                </a:solidFill>
                <a:latin typeface="Arial"/>
                <a:ea typeface="Arial"/>
                <a:cs typeface="Arial"/>
              </a:rPr>
              <a:t>Each point shows one seed. Boxes show the interquartile range and median. Product-loop values include modeled product revenue under calibration prices.</a:t>
            </a:r>
          </a:p>
        </p:txBody>
      </p:sp>
      <p:sp>
        <p:nvSpPr>
          <p:cNvPr id="50" name="What drives the result-heading">
            <a:extLst xmlns:a="http://schemas.openxmlformats.org/drawingml/2006/main">
              <a:ext uri="{FF2B5EF4-FFF2-40B4-BE49-F238E27FC236}">
                <a16:creationId xmlns:a16="http://schemas.microsoft.com/office/drawing/2014/main" id="{84D82698-53C4-414F-A5D4-C9FD8ED6476E}"/>
              </a:ext>
            </a:extLst>
          </p:cNvPr>
          <p:cNvSpPr>
            <a:spLocks xmlns:a="http://schemas.openxmlformats.org/drawingml/2006/main" noGrp="1"/>
          </p:cNvSpPr>
          <p:nvPr/>
        </p:nvSpPr>
        <p:spPr>
          <a:xfrm xmlns:a="http://schemas.openxmlformats.org/drawingml/2006/main">
            <a:off x="37195125" y="5314950"/>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850" b="1" i="0">
                <a:solidFill>
                  <a:srgbClr val="651B1B"/>
                </a:solidFill>
                <a:latin typeface="Arial"/>
                <a:ea typeface="Arial"/>
                <a:cs typeface="Arial"/>
              </a:defRPr>
            </a:pPr>
            <a:r>
              <a:rPr sz="2850" b="1" i="0">
                <a:solidFill>
                  <a:srgbClr val="651B1B"/>
                </a:solidFill>
                <a:latin typeface="Arial"/>
                <a:ea typeface="Arial"/>
                <a:cs typeface="Arial"/>
              </a:rPr>
              <a:t>What drives the result</a:t>
            </a:r>
          </a:p>
        </p:txBody>
      </p:sp>
      <p:sp>
        <p:nvSpPr>
          <p:cNvPr id="51" name="">
            <a:extLst xmlns:a="http://schemas.openxmlformats.org/drawingml/2006/main">
              <a:ext uri="{FF2B5EF4-FFF2-40B4-BE49-F238E27FC236}">
                <a16:creationId xmlns:a16="http://schemas.microsoft.com/office/drawing/2014/main" id="{8C724EA8-0BAF-40C7-BCB0-0051FB0AEFDF}"/>
              </a:ext>
            </a:extLst>
          </p:cNvPr>
          <p:cNvSpPr>
            <a:spLocks xmlns:a="http://schemas.openxmlformats.org/drawingml/2006/main" noGrp="1"/>
          </p:cNvSpPr>
          <p:nvPr/>
        </p:nvSpPr>
        <p:spPr>
          <a:xfrm xmlns:a="http://schemas.openxmlformats.org/drawingml/2006/main">
            <a:off x="37195125" y="5905500"/>
            <a:ext cx="10801350" cy="685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1000"/>
              </a:lnSpc>
              <a:buNone/>
              <a:defRPr sz="2250" b="0" i="0">
                <a:solidFill>
                  <a:srgbClr val="1D1D1D"/>
                </a:solidFill>
                <a:latin typeface="Arial"/>
                <a:ea typeface="Arial"/>
                <a:cs typeface="Arial"/>
              </a:defRPr>
            </a:pPr>
            <a:r>
              <a:rPr sz="2250" b="0" i="0">
                <a:solidFill>
                  <a:srgbClr val="1D1D1D"/>
                </a:solidFill>
                <a:latin typeface="Arial"/>
                <a:ea typeface="Arial"/>
                <a:cs typeface="Arial"/>
              </a:rPr>
              <a:t>L4 created the economic result. Turning on processing and product routing raised seed-42 operating profit by about $79,000 under the modeled product mix and prices.</a:t>
            </a:r>
          </a:p>
          <a:p xmlns:a="http://schemas.openxmlformats.org/drawingml/2006/main">
            <a:r>
              <a:t/>
            </a:r>
          </a:p>
          <a:p xmlns:a="http://schemas.openxmlformats.org/drawingml/2006/main">
            <a:pPr algn="l">
              <a:lnSpc>
                <a:spcPct val="101000"/>
              </a:lnSpc>
              <a:buNone/>
              <a:defRPr sz="2250" b="0" i="0">
                <a:solidFill>
                  <a:srgbClr val="1D1D1D"/>
                </a:solidFill>
                <a:latin typeface="Arial"/>
                <a:ea typeface="Arial"/>
                <a:cs typeface="Arial"/>
              </a:defRPr>
            </a:pPr>
            <a:r>
              <a:rPr sz="2250" b="0" i="0">
                <a:solidFill>
                  <a:srgbClr val="1D1D1D"/>
                </a:solidFill>
                <a:latin typeface="Arial"/>
                <a:ea typeface="Arial"/>
                <a:cs typeface="Arial"/>
              </a:rPr>
              <a:t>The energy loop added about $4,400 and reduced net emissions by 13.9 t CO2e.</a:t>
            </a:r>
          </a:p>
          <a:p xmlns:a="http://schemas.openxmlformats.org/drawingml/2006/main">
            <a:r>
              <a:t/>
            </a:r>
          </a:p>
          <a:p xmlns:a="http://schemas.openxmlformats.org/drawingml/2006/main">
            <a:pPr algn="l">
              <a:lnSpc>
                <a:spcPct val="101000"/>
              </a:lnSpc>
              <a:buNone/>
              <a:defRPr sz="2250" b="0" i="0">
                <a:solidFill>
                  <a:srgbClr val="1D1D1D"/>
                </a:solidFill>
                <a:latin typeface="Arial"/>
                <a:ea typeface="Arial"/>
                <a:cs typeface="Arial"/>
              </a:defRPr>
            </a:pPr>
            <a:r>
              <a:rPr sz="2250" b="0" i="0">
                <a:solidFill>
                  <a:srgbClr val="1D1D1D"/>
                </a:solidFill>
                <a:latin typeface="Arial"/>
                <a:ea typeface="Arial"/>
                <a:cs typeface="Arial"/>
              </a:rPr>
              <a:t>L2 saved about 160,000 L of freshwater and $160.</a:t>
            </a:r>
          </a:p>
          <a:p xmlns:a="http://schemas.openxmlformats.org/drawingml/2006/main">
            <a:r>
              <a:t/>
            </a:r>
          </a:p>
          <a:p xmlns:a="http://schemas.openxmlformats.org/drawingml/2006/main">
            <a:pPr algn="l">
              <a:lnSpc>
                <a:spcPct val="101000"/>
              </a:lnSpc>
              <a:buNone/>
              <a:defRPr sz="2250" b="0" i="0">
                <a:solidFill>
                  <a:srgbClr val="1D1D1D"/>
                </a:solidFill>
                <a:latin typeface="Arial"/>
                <a:ea typeface="Arial"/>
                <a:cs typeface="Arial"/>
              </a:defRPr>
            </a:pPr>
            <a:r>
              <a:rPr sz="2250" b="0" i="0">
                <a:solidFill>
                  <a:srgbClr val="1D1D1D"/>
                </a:solidFill>
                <a:latin typeface="Arial"/>
                <a:ea typeface="Arial"/>
                <a:cs typeface="Arial"/>
              </a:rPr>
              <a:t>The L1 nutrient loop generated 71 t of feed-offset credit. Farm-grown feed was not a limiting input, so the credit did not change operating profit.</a:t>
            </a:r>
          </a:p>
        </p:txBody>
      </p:sp>
      <p:sp>
        <p:nvSpPr>
          <p:cNvPr id="52" name="Conclusion-heading">
            <a:extLst xmlns:a="http://schemas.openxmlformats.org/drawingml/2006/main">
              <a:ext uri="{FF2B5EF4-FFF2-40B4-BE49-F238E27FC236}">
                <a16:creationId xmlns:a16="http://schemas.microsoft.com/office/drawing/2014/main" id="{24AAD0E4-D153-4A75-9080-39B58EE2318D}"/>
              </a:ext>
            </a:extLst>
          </p:cNvPr>
          <p:cNvSpPr>
            <a:spLocks xmlns:a="http://schemas.openxmlformats.org/drawingml/2006/main" noGrp="1"/>
          </p:cNvSpPr>
          <p:nvPr/>
        </p:nvSpPr>
        <p:spPr>
          <a:xfrm xmlns:a="http://schemas.openxmlformats.org/drawingml/2006/main">
            <a:off x="37195125" y="13239750"/>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850" b="1" i="0">
                <a:solidFill>
                  <a:srgbClr val="651B1B"/>
                </a:solidFill>
                <a:latin typeface="Arial"/>
                <a:ea typeface="Arial"/>
                <a:cs typeface="Arial"/>
              </a:defRPr>
            </a:pPr>
            <a:r>
              <a:rPr sz="2850" b="1" i="0">
                <a:solidFill>
                  <a:srgbClr val="651B1B"/>
                </a:solidFill>
                <a:latin typeface="Arial"/>
                <a:ea typeface="Arial"/>
                <a:cs typeface="Arial"/>
              </a:rPr>
              <a:t>Conclusion</a:t>
            </a:r>
          </a:p>
        </p:txBody>
      </p:sp>
      <p:sp>
        <p:nvSpPr>
          <p:cNvPr id="53" name="">
            <a:extLst xmlns:a="http://schemas.openxmlformats.org/drawingml/2006/main">
              <a:ext uri="{FF2B5EF4-FFF2-40B4-BE49-F238E27FC236}">
                <a16:creationId xmlns:a16="http://schemas.microsoft.com/office/drawing/2014/main" id="{50110EAB-751D-41CD-B896-2CAD961CFDBF}"/>
              </a:ext>
            </a:extLst>
          </p:cNvPr>
          <p:cNvSpPr>
            <a:spLocks xmlns:a="http://schemas.openxmlformats.org/drawingml/2006/main" noGrp="1"/>
          </p:cNvSpPr>
          <p:nvPr/>
        </p:nvSpPr>
        <p:spPr>
          <a:xfrm xmlns:a="http://schemas.openxmlformats.org/drawingml/2006/main">
            <a:off x="37195125" y="13830300"/>
            <a:ext cx="108013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4000"/>
              </a:lnSpc>
              <a:buNone/>
              <a:defRPr sz="2325" b="0" i="0">
                <a:solidFill>
                  <a:srgbClr val="1D1D1D"/>
                </a:solidFill>
                <a:latin typeface="Arial"/>
                <a:ea typeface="Arial"/>
                <a:cs typeface="Arial"/>
              </a:defRPr>
            </a:pPr>
            <a:r>
              <a:rPr sz="2325" b="0" i="0">
                <a:solidFill>
                  <a:srgbClr val="1D1D1D"/>
                </a:solidFill>
                <a:latin typeface="Arial"/>
                <a:ea typeface="Arial"/>
                <a:cs typeface="Arial"/>
              </a:rPr>
              <a:t>Use the model to decide which loop deserves field calibration first. For this farm setup, product prices control the economic case, while energy recovery controls the emissions result. Nutrient and water loops need scarcity scenarios before their value can be judged.</a:t>
            </a:r>
          </a:p>
        </p:txBody>
      </p:sp>
      <p:sp>
        <p:nvSpPr>
          <p:cNvPr id="54" name="Limitations-heading">
            <a:extLst xmlns:a="http://schemas.openxmlformats.org/drawingml/2006/main">
              <a:ext uri="{FF2B5EF4-FFF2-40B4-BE49-F238E27FC236}">
                <a16:creationId xmlns:a16="http://schemas.microsoft.com/office/drawing/2014/main" id="{A266AD09-1F4A-410F-A979-B1352DE69EC9}"/>
              </a:ext>
            </a:extLst>
          </p:cNvPr>
          <p:cNvSpPr>
            <a:spLocks xmlns:a="http://schemas.openxmlformats.org/drawingml/2006/main" noGrp="1"/>
          </p:cNvSpPr>
          <p:nvPr/>
        </p:nvSpPr>
        <p:spPr>
          <a:xfrm xmlns:a="http://schemas.openxmlformats.org/drawingml/2006/main">
            <a:off x="37195125" y="17240250"/>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850" b="1" i="0">
                <a:solidFill>
                  <a:srgbClr val="651B1B"/>
                </a:solidFill>
                <a:latin typeface="Arial"/>
                <a:ea typeface="Arial"/>
                <a:cs typeface="Arial"/>
              </a:defRPr>
            </a:pPr>
            <a:r>
              <a:rPr sz="2850" b="1" i="0">
                <a:solidFill>
                  <a:srgbClr val="651B1B"/>
                </a:solidFill>
                <a:latin typeface="Arial"/>
                <a:ea typeface="Arial"/>
                <a:cs typeface="Arial"/>
              </a:rPr>
              <a:t>Limitations</a:t>
            </a:r>
          </a:p>
        </p:txBody>
      </p:sp>
      <p:sp>
        <p:nvSpPr>
          <p:cNvPr id="55" name="">
            <a:extLst xmlns:a="http://schemas.openxmlformats.org/drawingml/2006/main">
              <a:ext uri="{FF2B5EF4-FFF2-40B4-BE49-F238E27FC236}">
                <a16:creationId xmlns:a16="http://schemas.microsoft.com/office/drawing/2014/main" id="{16F89F7E-151D-4C50-9F2E-1AF19879B0C6}"/>
              </a:ext>
            </a:extLst>
          </p:cNvPr>
          <p:cNvSpPr>
            <a:spLocks xmlns:a="http://schemas.openxmlformats.org/drawingml/2006/main" noGrp="1"/>
          </p:cNvSpPr>
          <p:nvPr/>
        </p:nvSpPr>
        <p:spPr>
          <a:xfrm xmlns:a="http://schemas.openxmlformats.org/drawingml/2006/main">
            <a:off x="37195125" y="17830800"/>
            <a:ext cx="10801350" cy="795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0000"/>
              </a:lnSpc>
              <a:buNone/>
              <a:defRPr sz="2025" b="0" i="0">
                <a:solidFill>
                  <a:srgbClr val="1D1D1D"/>
                </a:solidFill>
                <a:latin typeface="Arial"/>
                <a:ea typeface="Arial"/>
                <a:cs typeface="Arial"/>
              </a:defRPr>
            </a:pPr>
            <a:r>
              <a:rPr sz="2025" b="0" i="0">
                <a:solidFill>
                  <a:srgbClr val="1D1D1D"/>
                </a:solidFill>
                <a:latin typeface="Arial"/>
                <a:ea typeface="Arial"/>
                <a:cs typeface="Arial"/>
              </a:rPr>
              <a:t>• Results come from one simulated farm-year and have not been compared with measured farm data.</a:t>
            </a:r>
          </a:p>
          <a:p xmlns:a="http://schemas.openxmlformats.org/drawingml/2006/main">
            <a:r>
              <a:t/>
            </a:r>
          </a:p>
          <a:p xmlns:a="http://schemas.openxmlformats.org/drawingml/2006/main">
            <a:pPr algn="l">
              <a:lnSpc>
                <a:spcPct val="100000"/>
              </a:lnSpc>
              <a:buNone/>
              <a:defRPr sz="2025" b="0" i="0">
                <a:solidFill>
                  <a:srgbClr val="1D1D1D"/>
                </a:solidFill>
                <a:latin typeface="Arial"/>
                <a:ea typeface="Arial"/>
                <a:cs typeface="Arial"/>
              </a:defRPr>
            </a:pPr>
            <a:r>
              <a:rPr sz="2025" b="0" i="0">
                <a:solidFill>
                  <a:srgbClr val="1D1D1D"/>
                </a:solidFill>
                <a:latin typeface="Arial"/>
                <a:ea typeface="Arial"/>
                <a:cs typeface="Arial"/>
              </a:rPr>
              <a:t>• The model omits capital costs, financing, taxes, and depreciation.</a:t>
            </a:r>
          </a:p>
          <a:p xmlns:a="http://schemas.openxmlformats.org/drawingml/2006/main">
            <a:r>
              <a:t/>
            </a:r>
          </a:p>
          <a:p xmlns:a="http://schemas.openxmlformats.org/drawingml/2006/main">
            <a:pPr algn="l">
              <a:lnSpc>
                <a:spcPct val="100000"/>
              </a:lnSpc>
              <a:buNone/>
              <a:defRPr sz="2025" b="0" i="0">
                <a:solidFill>
                  <a:srgbClr val="1D1D1D"/>
                </a:solidFill>
                <a:latin typeface="Arial"/>
                <a:ea typeface="Arial"/>
                <a:cs typeface="Arial"/>
              </a:defRPr>
            </a:pPr>
            <a:r>
              <a:rPr sz="2025" b="0" i="0">
                <a:solidFill>
                  <a:srgbClr val="1D1D1D"/>
                </a:solidFill>
                <a:latin typeface="Arial"/>
                <a:ea typeface="Arial"/>
                <a:cs typeface="Arial"/>
              </a:rPr>
              <a:t>• L4 results depend on calibrated processing yields and product prices.</a:t>
            </a:r>
          </a:p>
          <a:p xmlns:a="http://schemas.openxmlformats.org/drawingml/2006/main">
            <a:r>
              <a:t/>
            </a:r>
          </a:p>
          <a:p xmlns:a="http://schemas.openxmlformats.org/drawingml/2006/main">
            <a:pPr algn="l">
              <a:lnSpc>
                <a:spcPct val="100000"/>
              </a:lnSpc>
              <a:buNone/>
              <a:defRPr sz="2025" b="0" i="0">
                <a:solidFill>
                  <a:srgbClr val="1D1D1D"/>
                </a:solidFill>
                <a:latin typeface="Arial"/>
                <a:ea typeface="Arial"/>
                <a:cs typeface="Arial"/>
              </a:defRPr>
            </a:pPr>
            <a:r>
              <a:rPr sz="2025" b="0" i="0">
                <a:solidFill>
                  <a:srgbClr val="1D1D1D"/>
                </a:solidFill>
                <a:latin typeface="Arial"/>
                <a:ea typeface="Arial"/>
                <a:cs typeface="Arial"/>
              </a:rPr>
              <a:t>• Wastewater treatment and nutrient return stay active when L1 and L2 are off. Those toggles add next-day credits rather than removing all reuse.</a:t>
            </a:r>
          </a:p>
          <a:p xmlns:a="http://schemas.openxmlformats.org/drawingml/2006/main">
            <a:r>
              <a:t/>
            </a:r>
          </a:p>
          <a:p xmlns:a="http://schemas.openxmlformats.org/drawingml/2006/main">
            <a:pPr algn="l">
              <a:lnSpc>
                <a:spcPct val="100000"/>
              </a:lnSpc>
              <a:buNone/>
              <a:defRPr sz="2025" b="0" i="0">
                <a:solidFill>
                  <a:srgbClr val="1D1D1D"/>
                </a:solidFill>
                <a:latin typeface="Arial"/>
                <a:ea typeface="Arial"/>
                <a:cs typeface="Arial"/>
              </a:defRPr>
            </a:pPr>
            <a:r>
              <a:rPr sz="2025" b="0" i="0">
                <a:solidFill>
                  <a:srgbClr val="1D1D1D"/>
                </a:solidFill>
                <a:latin typeface="Arial"/>
                <a:ea typeface="Arial"/>
                <a:cs typeface="Arial"/>
              </a:rPr>
              <a:t>• Five real-world farm-system comparisons are planned but not yet implemented.</a:t>
            </a:r>
          </a:p>
          <a:p xmlns:a="http://schemas.openxmlformats.org/drawingml/2006/main">
            <a:r>
              <a:t/>
            </a:r>
          </a:p>
          <a:p xmlns:a="http://schemas.openxmlformats.org/drawingml/2006/main">
            <a:pPr algn="l">
              <a:lnSpc>
                <a:spcPct val="100000"/>
              </a:lnSpc>
              <a:buNone/>
              <a:defRPr sz="2025" b="0" i="0">
                <a:solidFill>
                  <a:srgbClr val="1D1D1D"/>
                </a:solidFill>
                <a:latin typeface="Arial"/>
                <a:ea typeface="Arial"/>
                <a:cs typeface="Arial"/>
              </a:defRPr>
            </a:pPr>
            <a:r>
              <a:rPr sz="2025" b="0" i="0">
                <a:solidFill>
                  <a:srgbClr val="1D1D1D"/>
                </a:solidFill>
                <a:latin typeface="Arial"/>
                <a:ea typeface="Arial"/>
                <a:cs typeface="Arial"/>
              </a:rPr>
              <a:t>• Unit tests check model logic and accounting equations. Field data have not yet tested the biological and financial estimates.</a:t>
            </a:r>
          </a:p>
        </p:txBody>
      </p:sp>
      <p:sp>
        <p:nvSpPr>
          <p:cNvPr id="56" name="Next research steps-heading">
            <a:extLst xmlns:a="http://schemas.openxmlformats.org/drawingml/2006/main">
              <a:ext uri="{FF2B5EF4-FFF2-40B4-BE49-F238E27FC236}">
                <a16:creationId xmlns:a16="http://schemas.microsoft.com/office/drawing/2014/main" id="{ECCEF6DC-EEC4-4D89-A69B-23C35495506A}"/>
              </a:ext>
            </a:extLst>
          </p:cNvPr>
          <p:cNvSpPr>
            <a:spLocks xmlns:a="http://schemas.openxmlformats.org/drawingml/2006/main" noGrp="1"/>
          </p:cNvSpPr>
          <p:nvPr/>
        </p:nvSpPr>
        <p:spPr>
          <a:xfrm xmlns:a="http://schemas.openxmlformats.org/drawingml/2006/main">
            <a:off x="37195125" y="26269950"/>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850" b="1" i="0">
                <a:solidFill>
                  <a:srgbClr val="651B1B"/>
                </a:solidFill>
                <a:latin typeface="Arial"/>
                <a:ea typeface="Arial"/>
                <a:cs typeface="Arial"/>
              </a:defRPr>
            </a:pPr>
            <a:r>
              <a:rPr sz="2850" b="1" i="0">
                <a:solidFill>
                  <a:srgbClr val="651B1B"/>
                </a:solidFill>
                <a:latin typeface="Arial"/>
                <a:ea typeface="Arial"/>
                <a:cs typeface="Arial"/>
              </a:rPr>
              <a:t>Next research steps</a:t>
            </a:r>
          </a:p>
        </p:txBody>
      </p:sp>
      <p:sp>
        <p:nvSpPr>
          <p:cNvPr id="57" name="">
            <a:extLst xmlns:a="http://schemas.openxmlformats.org/drawingml/2006/main">
              <a:ext uri="{FF2B5EF4-FFF2-40B4-BE49-F238E27FC236}">
                <a16:creationId xmlns:a16="http://schemas.microsoft.com/office/drawing/2014/main" id="{54CE3161-43EC-46D4-A87D-F22071B9B2B6}"/>
              </a:ext>
            </a:extLst>
          </p:cNvPr>
          <p:cNvSpPr>
            <a:spLocks xmlns:a="http://schemas.openxmlformats.org/drawingml/2006/main" noGrp="1"/>
          </p:cNvSpPr>
          <p:nvPr/>
        </p:nvSpPr>
        <p:spPr>
          <a:xfrm xmlns:a="http://schemas.openxmlformats.org/drawingml/2006/main">
            <a:off x="37195125" y="26860500"/>
            <a:ext cx="1080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1800" b="1" i="0">
                <a:solidFill>
                  <a:srgbClr val="651B1B"/>
                </a:solidFill>
                <a:latin typeface="Arial"/>
                <a:ea typeface="Arial"/>
                <a:cs typeface="Arial"/>
              </a:defRPr>
            </a:pPr>
            <a:r>
              <a:rPr sz="1800" b="1" i="0">
                <a:solidFill>
                  <a:srgbClr val="651B1B"/>
                </a:solidFill>
                <a:latin typeface="Arial"/>
                <a:ea typeface="Arial"/>
                <a:cs typeface="Arial"/>
              </a:rPr>
              <a:t>ECONOMICS</a:t>
            </a:r>
          </a:p>
        </p:txBody>
      </p:sp>
      <p:sp>
        <p:nvSpPr>
          <p:cNvPr id="58" name="">
            <a:extLst xmlns:a="http://schemas.openxmlformats.org/drawingml/2006/main">
              <a:ext uri="{FF2B5EF4-FFF2-40B4-BE49-F238E27FC236}">
                <a16:creationId xmlns:a16="http://schemas.microsoft.com/office/drawing/2014/main" id="{5E9AAB82-0D6C-4E8E-963F-0C42AD052C42}"/>
              </a:ext>
            </a:extLst>
          </p:cNvPr>
          <p:cNvSpPr>
            <a:spLocks xmlns:a="http://schemas.openxmlformats.org/drawingml/2006/main" noGrp="1"/>
          </p:cNvSpPr>
          <p:nvPr/>
        </p:nvSpPr>
        <p:spPr>
          <a:xfrm xmlns:a="http://schemas.openxmlformats.org/drawingml/2006/main">
            <a:off x="37195125" y="27174825"/>
            <a:ext cx="10801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100" b="0" i="0">
                <a:solidFill>
                  <a:srgbClr val="1D1D1D"/>
                </a:solidFill>
                <a:latin typeface="Arial"/>
                <a:ea typeface="Arial"/>
                <a:cs typeface="Arial"/>
              </a:defRPr>
            </a:pPr>
            <a:r>
              <a:rPr sz="2100" b="0" i="0">
                <a:solidFill>
                  <a:srgbClr val="1D1D1D"/>
                </a:solidFill>
                <a:latin typeface="Arial"/>
                <a:ea typeface="Arial"/>
                <a:cs typeface="Arial"/>
              </a:rPr>
              <a:t>Add loop-specific capital and operating costs, then calculate ROI.</a:t>
            </a:r>
          </a:p>
        </p:txBody>
      </p:sp>
      <p:sp>
        <p:nvSpPr>
          <p:cNvPr id="59" name="">
            <a:extLst xmlns:a="http://schemas.openxmlformats.org/drawingml/2006/main">
              <a:ext uri="{FF2B5EF4-FFF2-40B4-BE49-F238E27FC236}">
                <a16:creationId xmlns:a16="http://schemas.microsoft.com/office/drawing/2014/main" id="{810A3CB5-FCBB-483E-8312-55EF69AD5595}"/>
              </a:ext>
            </a:extLst>
          </p:cNvPr>
          <p:cNvSpPr>
            <a:spLocks xmlns:a="http://schemas.openxmlformats.org/drawingml/2006/main" noGrp="1"/>
          </p:cNvSpPr>
          <p:nvPr/>
        </p:nvSpPr>
        <p:spPr>
          <a:xfrm xmlns:a="http://schemas.openxmlformats.org/drawingml/2006/main">
            <a:off x="37195125" y="28060650"/>
            <a:ext cx="1080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1800" b="1" i="0">
                <a:solidFill>
                  <a:srgbClr val="651B1B"/>
                </a:solidFill>
                <a:latin typeface="Arial"/>
                <a:ea typeface="Arial"/>
                <a:cs typeface="Arial"/>
              </a:defRPr>
            </a:pPr>
            <a:r>
              <a:rPr sz="1800" b="1" i="0">
                <a:solidFill>
                  <a:srgbClr val="651B1B"/>
                </a:solidFill>
                <a:latin typeface="Arial"/>
                <a:ea typeface="Arial"/>
                <a:cs typeface="Arial"/>
              </a:rPr>
              <a:t>CALIBRATION</a:t>
            </a:r>
          </a:p>
        </p:txBody>
      </p:sp>
      <p:sp>
        <p:nvSpPr>
          <p:cNvPr id="60" name="">
            <a:extLst xmlns:a="http://schemas.openxmlformats.org/drawingml/2006/main">
              <a:ext uri="{FF2B5EF4-FFF2-40B4-BE49-F238E27FC236}">
                <a16:creationId xmlns:a16="http://schemas.microsoft.com/office/drawing/2014/main" id="{68A23B5D-C749-4A2E-B871-1FF8FB82B42F}"/>
              </a:ext>
            </a:extLst>
          </p:cNvPr>
          <p:cNvSpPr>
            <a:spLocks xmlns:a="http://schemas.openxmlformats.org/drawingml/2006/main" noGrp="1"/>
          </p:cNvSpPr>
          <p:nvPr/>
        </p:nvSpPr>
        <p:spPr>
          <a:xfrm xmlns:a="http://schemas.openxmlformats.org/drawingml/2006/main">
            <a:off x="37195125" y="28374975"/>
            <a:ext cx="10801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100" b="0" i="0">
                <a:solidFill>
                  <a:srgbClr val="1D1D1D"/>
                </a:solidFill>
                <a:latin typeface="Arial"/>
                <a:ea typeface="Arial"/>
                <a:cs typeface="Arial"/>
              </a:defRPr>
            </a:pPr>
            <a:r>
              <a:rPr sz="2100" b="0" i="0">
                <a:solidFill>
                  <a:srgbClr val="1D1D1D"/>
                </a:solidFill>
                <a:latin typeface="Arial"/>
                <a:ea typeface="Arial"/>
                <a:cs typeface="Arial"/>
              </a:rPr>
              <a:t>Replace default prices and yields with observed farm and market data.</a:t>
            </a:r>
          </a:p>
        </p:txBody>
      </p:sp>
      <p:sp>
        <p:nvSpPr>
          <p:cNvPr id="61" name="">
            <a:extLst xmlns:a="http://schemas.openxmlformats.org/drawingml/2006/main">
              <a:ext uri="{FF2B5EF4-FFF2-40B4-BE49-F238E27FC236}">
                <a16:creationId xmlns:a16="http://schemas.microsoft.com/office/drawing/2014/main" id="{1026221B-2CE6-4314-86B5-07DAE4DA77CC}"/>
              </a:ext>
            </a:extLst>
          </p:cNvPr>
          <p:cNvSpPr>
            <a:spLocks xmlns:a="http://schemas.openxmlformats.org/drawingml/2006/main" noGrp="1"/>
          </p:cNvSpPr>
          <p:nvPr/>
        </p:nvSpPr>
        <p:spPr>
          <a:xfrm xmlns:a="http://schemas.openxmlformats.org/drawingml/2006/main">
            <a:off x="37195125" y="29260800"/>
            <a:ext cx="1080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1800" b="1" i="0">
                <a:solidFill>
                  <a:srgbClr val="651B1B"/>
                </a:solidFill>
                <a:latin typeface="Arial"/>
                <a:ea typeface="Arial"/>
                <a:cs typeface="Arial"/>
              </a:defRPr>
            </a:pPr>
            <a:r>
              <a:rPr sz="1800" b="1" i="0">
                <a:solidFill>
                  <a:srgbClr val="651B1B"/>
                </a:solidFill>
                <a:latin typeface="Arial"/>
                <a:ea typeface="Arial"/>
                <a:cs typeface="Arial"/>
              </a:rPr>
              <a:t>EXTERNAL VALIDATION</a:t>
            </a:r>
          </a:p>
        </p:txBody>
      </p:sp>
      <p:sp>
        <p:nvSpPr>
          <p:cNvPr id="62" name="">
            <a:extLst xmlns:a="http://schemas.openxmlformats.org/drawingml/2006/main">
              <a:ext uri="{FF2B5EF4-FFF2-40B4-BE49-F238E27FC236}">
                <a16:creationId xmlns:a16="http://schemas.microsoft.com/office/drawing/2014/main" id="{1F628824-9FB4-46EE-999A-184DA8F61B38}"/>
              </a:ext>
            </a:extLst>
          </p:cNvPr>
          <p:cNvSpPr>
            <a:spLocks xmlns:a="http://schemas.openxmlformats.org/drawingml/2006/main" noGrp="1"/>
          </p:cNvSpPr>
          <p:nvPr/>
        </p:nvSpPr>
        <p:spPr>
          <a:xfrm xmlns:a="http://schemas.openxmlformats.org/drawingml/2006/main">
            <a:off x="37195125" y="29575125"/>
            <a:ext cx="108013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2000"/>
              </a:lnSpc>
              <a:buNone/>
              <a:defRPr sz="2100" b="0" i="0">
                <a:solidFill>
                  <a:srgbClr val="1D1D1D"/>
                </a:solidFill>
                <a:latin typeface="Arial"/>
                <a:ea typeface="Arial"/>
                <a:cs typeface="Arial"/>
              </a:defRPr>
            </a:pPr>
            <a:r>
              <a:rPr sz="2100" b="0" i="0">
                <a:solidFill>
                  <a:srgbClr val="1D1D1D"/>
                </a:solidFill>
                <a:latin typeface="Arial"/>
                <a:ea typeface="Arial"/>
                <a:cs typeface="Arial"/>
              </a:rPr>
              <a:t>Implement the five farm systems, run global sensitivity analysis, and compare results with farm mass-balance and financial records.</a:t>
            </a:r>
          </a:p>
        </p:txBody>
      </p:sp>
      <p:sp>
        <p:nvSpPr>
          <p:cNvPr id="63" name="References and acknowledgments-heading">
            <a:extLst xmlns:a="http://schemas.openxmlformats.org/drawingml/2006/main">
              <a:ext uri="{FF2B5EF4-FFF2-40B4-BE49-F238E27FC236}">
                <a16:creationId xmlns:a16="http://schemas.microsoft.com/office/drawing/2014/main" id="{92D810D2-4C40-40F2-912C-4AC3C7F2F2D3}"/>
              </a:ext>
            </a:extLst>
          </p:cNvPr>
          <p:cNvSpPr>
            <a:spLocks xmlns:a="http://schemas.openxmlformats.org/drawingml/2006/main" noGrp="1"/>
          </p:cNvSpPr>
          <p:nvPr/>
        </p:nvSpPr>
        <p:spPr>
          <a:xfrm xmlns:a="http://schemas.openxmlformats.org/drawingml/2006/main">
            <a:off x="37195125" y="31642050"/>
            <a:ext cx="1080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3000"/>
              </a:lnSpc>
              <a:buNone/>
              <a:defRPr sz="2850" b="1" i="0">
                <a:solidFill>
                  <a:srgbClr val="651B1B"/>
                </a:solidFill>
                <a:latin typeface="Arial"/>
                <a:ea typeface="Arial"/>
                <a:cs typeface="Arial"/>
              </a:defRPr>
            </a:pPr>
            <a:r>
              <a:rPr sz="2850" b="1" i="0">
                <a:solidFill>
                  <a:srgbClr val="651B1B"/>
                </a:solidFill>
                <a:latin typeface="Arial"/>
                <a:ea typeface="Arial"/>
                <a:cs typeface="Arial"/>
              </a:rPr>
              <a:t>References and acknowledgments</a:t>
            </a:r>
          </a:p>
        </p:txBody>
      </p:sp>
      <p:sp>
        <p:nvSpPr>
          <p:cNvPr id="64" name="">
            <a:extLst xmlns:a="http://schemas.openxmlformats.org/drawingml/2006/main">
              <a:ext uri="{FF2B5EF4-FFF2-40B4-BE49-F238E27FC236}">
                <a16:creationId xmlns:a16="http://schemas.microsoft.com/office/drawing/2014/main" id="{00804A8E-D9AC-4D3F-B7FD-5A70CDB847B0}"/>
              </a:ext>
            </a:extLst>
          </p:cNvPr>
          <p:cNvSpPr>
            <a:spLocks xmlns:a="http://schemas.openxmlformats.org/drawingml/2006/main" noGrp="1"/>
          </p:cNvSpPr>
          <p:nvPr/>
        </p:nvSpPr>
        <p:spPr>
          <a:xfrm xmlns:a="http://schemas.openxmlformats.org/drawingml/2006/main">
            <a:off x="37195125" y="32232600"/>
            <a:ext cx="10801350" cy="476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9525" rIns="28575" bIns="9525" anchor="t">
            <a:noAutofit/>
          </a:bodyPr>
          <a:lstStyle xmlns:a="http://schemas.openxmlformats.org/drawingml/2006/main"/>
          <a:p xmlns:a="http://schemas.openxmlformats.org/drawingml/2006/main">
            <a:pPr algn="l">
              <a:lnSpc>
                <a:spcPct val="100000"/>
              </a:lnSpc>
              <a:buNone/>
              <a:defRPr sz="1800" b="0" i="0">
                <a:solidFill>
                  <a:srgbClr val="1D1D1D"/>
                </a:solidFill>
                <a:latin typeface="Arial"/>
                <a:ea typeface="Arial"/>
                <a:cs typeface="Arial"/>
              </a:defRPr>
            </a:pPr>
            <a:r>
              <a:rPr sz="1800" b="0" i="0">
                <a:solidFill>
                  <a:srgbClr val="1D1D1D"/>
                </a:solidFill>
                <a:latin typeface="Arial"/>
                <a:ea typeface="Arial"/>
                <a:cs typeface="Arial"/>
              </a:rPr>
              <a:t>1. USDA NASS. 2022 Census of Agriculture: Dairy Cattle and Milk Production. 2024.</a:t>
            </a:r>
          </a:p>
          <a:p xmlns:a="http://schemas.openxmlformats.org/drawingml/2006/main">
            <a:pPr algn="l">
              <a:lnSpc>
                <a:spcPct val="100000"/>
              </a:lnSpc>
              <a:buNone/>
              <a:defRPr sz="1800" b="0" i="0">
                <a:solidFill>
                  <a:srgbClr val="1D1D1D"/>
                </a:solidFill>
                <a:latin typeface="Arial"/>
                <a:ea typeface="Arial"/>
                <a:cs typeface="Arial"/>
              </a:defRPr>
            </a:pPr>
            <a:r>
              <a:rPr sz="1800" b="0" i="0">
                <a:solidFill>
                  <a:srgbClr val="1D1D1D"/>
                </a:solidFill>
                <a:latin typeface="Arial"/>
                <a:ea typeface="Arial"/>
                <a:cs typeface="Arial"/>
              </a:rPr>
              <a:t>2. Wood, P.D.P. Algebraic Model of the Lactation Curve in Cattle. Nature 216, 164–165 (1967). doi:10.1038/216164a0.</a:t>
            </a:r>
          </a:p>
          <a:p xmlns:a="http://schemas.openxmlformats.org/drawingml/2006/main">
            <a:pPr algn="l">
              <a:lnSpc>
                <a:spcPct val="100000"/>
              </a:lnSpc>
              <a:buNone/>
              <a:defRPr sz="1800" b="0" i="0">
                <a:solidFill>
                  <a:srgbClr val="1D1D1D"/>
                </a:solidFill>
                <a:latin typeface="Arial"/>
                <a:ea typeface="Arial"/>
                <a:cs typeface="Arial"/>
              </a:defRPr>
            </a:pPr>
            <a:r>
              <a:rPr sz="1800" b="0" i="0">
                <a:solidFill>
                  <a:srgbClr val="1D1D1D"/>
                </a:solidFill>
                <a:latin typeface="Arial"/>
                <a:ea typeface="Arial"/>
                <a:cs typeface="Arial"/>
              </a:rPr>
              <a:t>3. Muell, J.D. et al. Farm-Scale Water-Energy-Food-Waste Nexus Analysis for a Closed-Loop Dairy System. Frontiers in Environmental Science 10:880839 (2022). doi:10.3389/fenvs.2022.880839.</a:t>
            </a:r>
          </a:p>
          <a:p xmlns:a="http://schemas.openxmlformats.org/drawingml/2006/main">
            <a:pPr algn="l">
              <a:lnSpc>
                <a:spcPct val="100000"/>
              </a:lnSpc>
              <a:buNone/>
              <a:defRPr sz="1800" b="0" i="0">
                <a:solidFill>
                  <a:srgbClr val="1D1D1D"/>
                </a:solidFill>
                <a:latin typeface="Arial"/>
                <a:ea typeface="Arial"/>
                <a:cs typeface="Arial"/>
              </a:defRPr>
            </a:pPr>
            <a:r>
              <a:rPr sz="1800" b="0" i="0">
                <a:solidFill>
                  <a:srgbClr val="1D1D1D"/>
                </a:solidFill>
                <a:latin typeface="Arial"/>
                <a:ea typeface="Arial"/>
                <a:cs typeface="Arial"/>
              </a:rPr>
              <a:t>4. ViCBio DM model code. github.com/Creator101-commits/research-agents. Version accessed September 2026.</a:t>
            </a:r>
          </a:p>
          <a:p xmlns:a="http://schemas.openxmlformats.org/drawingml/2006/main">
            <a:r>
              <a:t/>
            </a:r>
          </a:p>
          <a:p xmlns:a="http://schemas.openxmlformats.org/drawingml/2006/main">
            <a:pPr algn="l">
              <a:lnSpc>
                <a:spcPct val="100000"/>
              </a:lnSpc>
              <a:buNone/>
              <a:defRPr sz="1800" b="0" i="0">
                <a:solidFill>
                  <a:srgbClr val="1D1D1D"/>
                </a:solidFill>
                <a:latin typeface="Arial"/>
                <a:ea typeface="Arial"/>
                <a:cs typeface="Arial"/>
              </a:defRPr>
            </a:pPr>
            <a:r>
              <a:rPr sz="1800" b="0" i="0">
                <a:solidFill>
                  <a:srgbClr val="1D1D1D"/>
                </a:solidFill>
                <a:latin typeface="Arial"/>
                <a:ea typeface="Arial"/>
                <a:cs typeface="Arial"/>
              </a:rPr>
              <a:t>Acknowledgments: Texas A&amp;M University Department of Animal Science and Department of Statistics.</a:t>
            </a:r>
          </a:p>
        </p:txBody>
      </p:sp>
    </p:spTree>
    <p:extLst>
      <p:ext uri="{BB962C8B-B14F-4D97-AF65-F5344CB8AC3E}">
        <p14:creationId xmlns:p14="http://schemas.microsoft.com/office/powerpoint/2010/main" val="16090280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2026-09-07T04:49:46.9330000Z</dcterms:created>
  <dcterms:modified xsi:type="dcterms:W3CDTF">2026-09-07T04:49:46.9330000Z</dcterms:modified>
</coreProperties>
</file>